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20"/>
    <p:restoredTop sz="94660"/>
  </p:normalViewPr>
  <p:slideViewPr>
    <p:cSldViewPr snapToGrid="0" snapToObjects="1">
      <p:cViewPr varScale="1">
        <p:scale>
          <a:sx n="100" d="100"/>
          <a:sy n="100" d="100"/>
        </p:scale>
        <p:origin x="-1512" y="-112"/>
      </p:cViewPr>
      <p:guideLst>
        <p:guide orient="horz" pos="2159"/>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heme" Target="theme/theme1.xml"  /><Relationship Id="rId17" Type="http://schemas.openxmlformats.org/officeDocument/2006/relationships/tableStyles" Target="tableStyles.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51E1B"/>
            </a:gs>
            <a:gs pos="100000">
              <a:srgbClr val="130F0E"/>
            </a:gs>
          </a:gsLst>
          <a:lin scaled="0" ang="5400000"/>
        </a:gradFill>
        <a:effectLst/>
      </p:bgPr>
    </p:bg>
    <p:spTree>
      <p:nvGrpSpPr>
        <p:cNvPr id="1" name=""/>
        <p:cNvGrpSpPr/>
        <p:nvPr/>
      </p:nvGrpSpPr>
      <p:grpSpPr/>
      <p:sp>
        <p:nvSpPr>
          <p:cNvPr id="2" name="TextBox 1"/>
          <p:cNvSpPr txBox="1"/>
          <p:nvPr/>
        </p:nvSpPr>
        <p:spPr>
          <a:xfrm>
            <a:off x="914400" y="2011680"/>
            <a:ext cx="10362895" cy="2286000"/>
          </a:xfrm>
          <a:prstGeom prst="rect">
            <a:avLst/>
          </a:prstGeom>
          <a:noFill/>
        </p:spPr>
        <p:txBody>
          <a:bodyPr wrap="square" tIns="0" bIns="0" lIns="0" rIns="0">
            <a:spAutoFit/>
          </a:bodyPr>
          <a:lstStyle/>
          <a:p>
            <a:pPr>
              <a:defRPr sz="4400" b="1">
                <a:solidFill>
                  <a:srgbClr val="FFFFFF"/>
                </a:solidFill>
                <a:latin typeface="Malgun Gothic"/>
              </a:defRPr>
            </a:pPr>
            <a:r>
              <a:t>Let's Play Overcooked:</a:t>
            </a:r>
          </a:p>
          <a:p>
            <a:pPr>
              <a:spcBef>
                <a:spcPts val="400"/>
              </a:spcBef>
              <a:defRPr sz="4400" b="1">
                <a:solidFill>
                  <a:srgbClr val="DF5D44"/>
                </a:solidFill>
                <a:latin typeface="Malgun Gothic"/>
              </a:defRPr>
            </a:pPr>
            <a:r>
              <a:t>혼돈에서 안무로</a:t>
            </a:r>
          </a:p>
          <a:p>
            <a:pPr>
              <a:spcBef>
                <a:spcPts val="1600"/>
              </a:spcBef>
              <a:defRPr sz="1800">
                <a:solidFill>
                  <a:srgbClr val="D0C8C2"/>
                </a:solidFill>
                <a:latin typeface="Malgun Gothic"/>
              </a:defRPr>
            </a:pPr>
            <a:r>
              <a:t>서로 다른 맵에서 동작하는 2대 Pinky Pro의 협업 기반 주방 오케스트레이션</a:t>
            </a:r>
          </a:p>
        </p:txBody>
      </p:sp>
      <p:sp>
        <p:nvSpPr>
          <p:cNvPr id="3" name="TextBox 2"/>
          <p:cNvSpPr txBox="1"/>
          <p:nvPr/>
        </p:nvSpPr>
        <p:spPr>
          <a:xfrm>
            <a:off x="914400" y="5303520"/>
            <a:ext cx="10362895" cy="731520"/>
          </a:xfrm>
          <a:prstGeom prst="rect">
            <a:avLst/>
          </a:prstGeom>
          <a:noFill/>
        </p:spPr>
        <p:txBody>
          <a:bodyPr wrap="square" tIns="0" bIns="0" lIns="0" rIns="0">
            <a:spAutoFit/>
          </a:bodyPr>
          <a:lstStyle/>
          <a:p>
            <a:pPr>
              <a:defRPr sz="1300">
                <a:solidFill>
                  <a:srgbClr val="6E625D"/>
                </a:solidFill>
                <a:latin typeface="Malgun Gothic"/>
              </a:defRPr>
            </a:pPr>
            <a:r>
              <a:t>3조 발표자료  |  엄요한, 배소윤, 김가영</a:t>
            </a:r>
          </a:p>
          <a:p>
            <a:pPr>
              <a:spcBef>
                <a:spcPts val="300"/>
              </a:spcBef>
              <a:defRPr sz="1200">
                <a:solidFill>
                  <a:srgbClr val="6E625D"/>
                </a:solidFill>
                <a:latin typeface="Malgun Gothic"/>
              </a:defRPr>
            </a:pPr>
            <a:r>
              <a:t>ROS 2 Jazzy 기반 멀티로봇 분산 시스템  •  문서 버전: 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서비스 시나리오: 애플파이 주문 워크플로</a:t>
            </a:r>
          </a:p>
          <a:p>
            <a:pPr>
              <a:spcBef>
                <a:spcPts val="400"/>
              </a:spcBef>
              <a:defRPr sz="1300">
                <a:solidFill>
                  <a:srgbClr val="6E625D"/>
                </a:solidFill>
                <a:latin typeface="Malgun Gothic"/>
              </a:defRPr>
            </a:pPr>
            <a:r>
              <a:t>YOLO 클래스와 분리된 좌표계를 극복하기 위한 로봇간 분업 및 협업 시나리오</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029200" cy="2011680"/>
          </a:xfrm>
          <a:prstGeom prst="roundRect">
            <a:avLst/>
          </a:prstGeom>
          <a:solidFill>
            <a:srgbClr val="F5F0E8"/>
          </a:solidFill>
          <a:ln w="1905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DF5D44"/>
                </a:solidFill>
                <a:latin typeface="Malgun Gothic"/>
              </a:defRPr>
            </a:pPr>
            <a:r>
              <a:t>Supplier 로봇 A (재료 구역 담당)</a:t>
            </a:r>
          </a:p>
          <a:p>
            <a:pPr>
              <a:spcBef>
                <a:spcPts val="600"/>
              </a:spcBef>
              <a:defRPr sz="1200">
                <a:solidFill>
                  <a:srgbClr val="2B2421"/>
                </a:solidFill>
                <a:latin typeface="Malgun Gothic"/>
              </a:defRPr>
            </a:pPr>
            <a:r>
              <a:t>• 역할: 주문에 필요한 1차 재료 수집 및 이동</a:t>
            </a:r>
          </a:p>
          <a:p>
            <a:pPr>
              <a:spcBef>
                <a:spcPts val="600"/>
              </a:spcBef>
              <a:defRPr sz="1200">
                <a:solidFill>
                  <a:srgbClr val="2B2421"/>
                </a:solidFill>
                <a:latin typeface="Malgun Gothic"/>
              </a:defRPr>
            </a:pPr>
            <a:r>
              <a:t>• 동작: 재료 구역 내 재료(Apple 등) YOLO 인식 후 정밀 접근</a:t>
            </a:r>
          </a:p>
          <a:p>
            <a:pPr>
              <a:spcBef>
                <a:spcPts val="600"/>
              </a:spcBef>
              <a:defRPr sz="1200">
                <a:solidFill>
                  <a:srgbClr val="2B2421"/>
                </a:solidFill>
                <a:latin typeface="Malgun Gothic"/>
              </a:defRPr>
            </a:pPr>
            <a:r>
              <a:t>• 교환: 교환 장소(Handoff Zone)로 이동 후 대기</a:t>
            </a:r>
          </a:p>
        </p:txBody>
      </p:sp>
      <p:sp>
        <p:nvSpPr>
          <p:cNvPr id="5" name="Rounded Rectangle 4"/>
          <p:cNvSpPr/>
          <p:nvPr/>
        </p:nvSpPr>
        <p:spPr>
          <a:xfrm>
            <a:off x="6430975" y="1645920"/>
            <a:ext cx="5029200" cy="2011680"/>
          </a:xfrm>
          <a:prstGeom prst="roundRect">
            <a:avLst/>
          </a:prstGeom>
          <a:solidFill>
            <a:srgbClr val="F5F0E8"/>
          </a:solidFill>
          <a:ln w="19050">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3589D6"/>
                </a:solidFill>
                <a:latin typeface="Malgun Gothic"/>
              </a:defRPr>
            </a:pPr>
            <a:r>
              <a:t>Server 로봇 B (서빙 구역 담당)</a:t>
            </a:r>
          </a:p>
          <a:p>
            <a:pPr>
              <a:spcBef>
                <a:spcPts val="600"/>
              </a:spcBef>
              <a:defRPr sz="1200">
                <a:solidFill>
                  <a:srgbClr val="2B2421"/>
                </a:solidFill>
                <a:latin typeface="Malgun Gothic"/>
              </a:defRPr>
            </a:pPr>
            <a:r>
              <a:t>• 역할: Handoff Zone 재료 수집 후 최종 서빙</a:t>
            </a:r>
          </a:p>
          <a:p>
            <a:pPr>
              <a:spcBef>
                <a:spcPts val="600"/>
              </a:spcBef>
              <a:defRPr sz="1200">
                <a:solidFill>
                  <a:srgbClr val="2B2421"/>
                </a:solidFill>
                <a:latin typeface="Malgun Gothic"/>
              </a:defRPr>
            </a:pPr>
            <a:r>
              <a:t>• 동작: Handoff Zone 도착 → 요리 인식 후 최종 픽업 이동</a:t>
            </a:r>
          </a:p>
          <a:p>
            <a:pPr>
              <a:spcBef>
                <a:spcPts val="600"/>
              </a:spcBef>
              <a:defRPr sz="1200">
                <a:solidFill>
                  <a:srgbClr val="2B2421"/>
                </a:solidFill>
                <a:latin typeface="Malgun Gothic"/>
              </a:defRPr>
            </a:pPr>
            <a:r>
              <a:t>• 서빙: 손님 벨(Bell) 위치 확인 후 최종 테이블 배달 완료</a:t>
            </a:r>
          </a:p>
        </p:txBody>
      </p:sp>
      <p:sp>
        <p:nvSpPr>
          <p:cNvPr id="6" name="Chevron 5"/>
          <p:cNvSpPr/>
          <p:nvPr/>
        </p:nvSpPr>
        <p:spPr>
          <a:xfrm>
            <a:off x="731520" y="3931920"/>
            <a:ext cx="2468880" cy="1188720"/>
          </a:xfrm>
          <a:prstGeom prst="chevron">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400" b="1">
                <a:solidFill>
                  <a:srgbClr val="2B2421"/>
                </a:solidFill>
                <a:latin typeface="Malgun Gothic"/>
              </a:defRPr>
            </a:pPr>
            <a:r>
              <a:t>1. 요리 주문</a:t>
            </a:r>
          </a:p>
          <a:p>
            <a:pPr algn="ctr">
              <a:spcBef>
                <a:spcPts val="400"/>
              </a:spcBef>
              <a:defRPr sz="1050">
                <a:solidFill>
                  <a:srgbClr val="2B2421"/>
                </a:solidFill>
                <a:latin typeface="Malgun Gothic"/>
              </a:defRPr>
            </a:pPr>
            <a:r>
              <a:t>애플파이 주문 발생</a:t>
            </a:r>
          </a:p>
        </p:txBody>
      </p:sp>
      <p:sp>
        <p:nvSpPr>
          <p:cNvPr id="7" name="Chevron 6"/>
          <p:cNvSpPr/>
          <p:nvPr/>
        </p:nvSpPr>
        <p:spPr>
          <a:xfrm>
            <a:off x="3474720" y="3931920"/>
            <a:ext cx="2468880" cy="1188720"/>
          </a:xfrm>
          <a:prstGeom prst="chevron">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400" b="1">
                <a:solidFill>
                  <a:srgbClr val="2B2421"/>
                </a:solidFill>
                <a:latin typeface="Malgun Gothic"/>
              </a:defRPr>
            </a:pPr>
            <a:r>
              <a:t>2. 재료 수집</a:t>
            </a:r>
          </a:p>
          <a:p>
            <a:pPr algn="ctr">
              <a:spcBef>
                <a:spcPts val="400"/>
              </a:spcBef>
              <a:defRPr sz="1050">
                <a:solidFill>
                  <a:srgbClr val="2B2421"/>
                </a:solidFill>
                <a:latin typeface="Malgun Gothic"/>
              </a:defRPr>
            </a:pPr>
            <a:r>
              <a:t>Supplier A 재료 이동</a:t>
            </a:r>
          </a:p>
        </p:txBody>
      </p:sp>
      <p:sp>
        <p:nvSpPr>
          <p:cNvPr id="8" name="Chevron 7"/>
          <p:cNvSpPr/>
          <p:nvPr/>
        </p:nvSpPr>
        <p:spPr>
          <a:xfrm>
            <a:off x="6217920" y="3931920"/>
            <a:ext cx="2468880" cy="1188720"/>
          </a:xfrm>
          <a:prstGeom prst="chevron">
            <a:avLst/>
          </a:prstGeom>
          <a:solidFill>
            <a:srgbClr val="2BA66E"/>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400" b="1">
                <a:solidFill>
                  <a:srgbClr val="FFFFFF"/>
                </a:solidFill>
                <a:latin typeface="Malgun Gothic"/>
              </a:defRPr>
            </a:pPr>
            <a:r>
              <a:t>3. Handoff Zone</a:t>
            </a:r>
          </a:p>
          <a:p>
            <a:pPr algn="ctr">
              <a:spcBef>
                <a:spcPts val="400"/>
              </a:spcBef>
              <a:defRPr sz="1050">
                <a:solidFill>
                  <a:srgbClr val="FFFFFF"/>
                </a:solidFill>
                <a:latin typeface="Malgun Gothic"/>
              </a:defRPr>
            </a:pPr>
            <a:r>
              <a:t>두 로봇 교환소 동기화</a:t>
            </a:r>
          </a:p>
        </p:txBody>
      </p:sp>
      <p:sp>
        <p:nvSpPr>
          <p:cNvPr id="9" name="Rounded Rectangle 8"/>
          <p:cNvSpPr/>
          <p:nvPr/>
        </p:nvSpPr>
        <p:spPr>
          <a:xfrm>
            <a:off x="8961120" y="3931920"/>
            <a:ext cx="2468880" cy="1188720"/>
          </a:xfrm>
          <a:prstGeom prst="roundRect">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2B2421"/>
                </a:solidFill>
                <a:latin typeface="Malgun Gothic"/>
              </a:defRPr>
            </a:pPr>
            <a:r>
              <a:t>4. 요리 및 서빙</a:t>
            </a:r>
          </a:p>
          <a:p>
            <a:pPr algn="ctr">
              <a:spcBef>
                <a:spcPts val="400"/>
              </a:spcBef>
              <a:defRPr sz="1050">
                <a:solidFill>
                  <a:srgbClr val="2B2421"/>
                </a:solidFill>
                <a:latin typeface="Malgun Gothic"/>
              </a:defRPr>
            </a:pPr>
            <a:r>
              <a:t>Server B 픽업 후 손님 서빙</a:t>
            </a:r>
          </a:p>
        </p:txBody>
      </p:sp>
      <p:sp>
        <p:nvSpPr>
          <p:cNvPr id="10" name="TextBox 9"/>
          <p:cNvSpPr txBox="1"/>
          <p:nvPr/>
        </p:nvSpPr>
        <p:spPr>
          <a:xfrm>
            <a:off x="731520" y="5303520"/>
            <a:ext cx="10698480" cy="548640"/>
          </a:xfrm>
          <a:prstGeom prst="rect">
            <a:avLst/>
          </a:prstGeom>
          <a:noFill/>
        </p:spPr>
        <p:txBody>
          <a:bodyPr wrap="square" tIns="0" bIns="0" lIns="0" rIns="0">
            <a:spAutoFit/>
          </a:bodyPr>
          <a:lstStyle/>
          <a:p>
            <a:pPr>
              <a:defRPr sz="1100" b="1">
                <a:solidFill>
                  <a:srgbClr val="6E625D"/>
                </a:solidFill>
                <a:latin typeface="Malgun Gothic"/>
              </a:defRPr>
            </a:pPr>
            <a:r>
              <a:t>※ 핵심 동기화 포인트: 두 로봇이 각자 맵의 교환 장소(exchange_pose)에 완료 신호(both_arrived)를 전송하기 전까지는 다음 단계(서빙)로 진행하지 않는 안전 장치가 포함되어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시스템 아키텍처: Central Orchestration + Local Autonomy</a:t>
            </a:r>
          </a:p>
          <a:p>
            <a:pPr>
              <a:spcBef>
                <a:spcPts val="400"/>
              </a:spcBef>
              <a:defRPr sz="1300">
                <a:solidFill>
                  <a:srgbClr val="6E625D"/>
                </a:solidFill>
                <a:latin typeface="Malgun Gothic"/>
              </a:defRPr>
            </a:pPr>
            <a:r>
              <a:t>중앙 PC는 인식 및 전체 시퀀스를 제어하고 실제 구동은 로봇 로컬 ROS2 노드가 분산 처리</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83280" cy="3931920"/>
          </a:xfrm>
          <a:prstGeom prst="roundRect">
            <a:avLst/>
          </a:prstGeom>
          <a:solidFill>
            <a:srgbClr val="FFFFFF"/>
          </a:solidFill>
          <a:ln w="2540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700" b="1">
                <a:solidFill>
                  <a:srgbClr val="DF5D44"/>
                </a:solidFill>
                <a:latin typeface="Malgun Gothic"/>
              </a:defRPr>
            </a:pPr>
            <a:r>
              <a:t>Central Control PC (중앙 제어)</a:t>
            </a:r>
          </a:p>
          <a:p>
            <a:pPr>
              <a:lnSpc>
                <a:spcPct val="115000"/>
              </a:lnSpc>
              <a:spcBef>
                <a:spcPts val="800"/>
              </a:spcBef>
              <a:defRPr sz="1200">
                <a:solidFill>
                  <a:srgbClr val="2B2421"/>
                </a:solidFill>
                <a:latin typeface="Malgun Gothic"/>
              </a:defRPr>
            </a:pPr>
            <a:r>
              <a:t>•  Flask 관제 서버 (yolo_nav_server.py)</a:t>
            </a:r>
          </a:p>
          <a:p>
            <a:pPr>
              <a:lnSpc>
                <a:spcPct val="115000"/>
              </a:lnSpc>
              <a:spcBef>
                <a:spcPts val="800"/>
              </a:spcBef>
              <a:defRPr sz="1200">
                <a:solidFill>
                  <a:srgbClr val="2B2421"/>
                </a:solidFill>
                <a:latin typeface="Malgun Gothic"/>
              </a:defRPr>
            </a:pPr>
            <a:r>
              <a:t>•  YOLO v8 GPU 추론 엔진 (9클래스 감지)</a:t>
            </a:r>
          </a:p>
          <a:p>
            <a:pPr>
              <a:lnSpc>
                <a:spcPct val="115000"/>
              </a:lnSpc>
              <a:spcBef>
                <a:spcPts val="800"/>
              </a:spcBef>
              <a:defRPr sz="1200">
                <a:solidFill>
                  <a:srgbClr val="2B2421"/>
                </a:solidFill>
                <a:latin typeface="Malgun Gothic"/>
              </a:defRPr>
            </a:pPr>
            <a:r>
              <a:t>•  RecipeOrchestrator 통합 시퀀스 관리</a:t>
            </a:r>
          </a:p>
          <a:p>
            <a:pPr>
              <a:lnSpc>
                <a:spcPct val="115000"/>
              </a:lnSpc>
              <a:spcBef>
                <a:spcPts val="800"/>
              </a:spcBef>
              <a:defRPr sz="1200">
                <a:solidFill>
                  <a:srgbClr val="2B2421"/>
                </a:solidFill>
                <a:latin typeface="Malgun Gothic"/>
              </a:defRPr>
            </a:pPr>
            <a:r>
              <a:t>•  통합 관제 웹 UI 제공 (:8090 포트)</a:t>
            </a:r>
          </a:p>
        </p:txBody>
      </p:sp>
      <p:sp>
        <p:nvSpPr>
          <p:cNvPr id="5" name="Rounded Rectangle 4"/>
          <p:cNvSpPr/>
          <p:nvPr/>
        </p:nvSpPr>
        <p:spPr>
          <a:xfrm>
            <a:off x="4480560" y="1645920"/>
            <a:ext cx="3383280" cy="3931920"/>
          </a:xfrm>
          <a:prstGeom prst="roundRect">
            <a:avLst/>
          </a:prstGeom>
          <a:solidFill>
            <a:srgbClr val="FFFFFF"/>
          </a:solidFill>
          <a:ln w="25400">
            <a:solidFill>
              <a:srgbClr val="2BA66E"/>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700" b="1">
                <a:solidFill>
                  <a:srgbClr val="2BA66E"/>
                </a:solidFill>
                <a:latin typeface="Malgun Gothic"/>
              </a:defRPr>
            </a:pPr>
            <a:r>
              <a:t>HTTP Polling / REST API Bridge</a:t>
            </a:r>
          </a:p>
          <a:p>
            <a:pPr>
              <a:lnSpc>
                <a:spcPct val="115000"/>
              </a:lnSpc>
              <a:spcBef>
                <a:spcPts val="800"/>
              </a:spcBef>
              <a:defRPr sz="1200">
                <a:solidFill>
                  <a:srgbClr val="2B2421"/>
                </a:solidFill>
                <a:latin typeface="Malgun Gothic"/>
              </a:defRPr>
            </a:pPr>
            <a:r>
              <a:t>•  로봇당 얇은 HTTP 브리지 (:8091 포트)</a:t>
            </a:r>
          </a:p>
          <a:p>
            <a:pPr>
              <a:lnSpc>
                <a:spcPct val="115000"/>
              </a:lnSpc>
              <a:spcBef>
                <a:spcPts val="800"/>
              </a:spcBef>
              <a:defRPr sz="1200">
                <a:solidFill>
                  <a:srgbClr val="2B2421"/>
                </a:solidFill>
                <a:latin typeface="Malgun Gothic"/>
              </a:defRPr>
            </a:pPr>
            <a:r>
              <a:t>•  로봇 현재 상태 전송 (Pose, Scan, Queue)</a:t>
            </a:r>
          </a:p>
          <a:p>
            <a:pPr>
              <a:lnSpc>
                <a:spcPct val="115000"/>
              </a:lnSpc>
              <a:spcBef>
                <a:spcPts val="800"/>
              </a:spcBef>
              <a:defRPr sz="1200">
                <a:solidFill>
                  <a:srgbClr val="2B2421"/>
                </a:solidFill>
                <a:latin typeface="Malgun Gothic"/>
              </a:defRPr>
            </a:pPr>
            <a:r>
              <a:t>•  원격 명령 큐 전송 (YOLO 결과 반영)</a:t>
            </a:r>
          </a:p>
          <a:p>
            <a:pPr>
              <a:lnSpc>
                <a:spcPct val="115000"/>
              </a:lnSpc>
              <a:spcBef>
                <a:spcPts val="800"/>
              </a:spcBef>
              <a:defRPr sz="1200">
                <a:solidFill>
                  <a:srgbClr val="2B2421"/>
                </a:solidFill>
                <a:latin typeface="Malgun Gothic"/>
              </a:defRPr>
            </a:pPr>
            <a:r>
              <a:t>•  PC ↔ 로봇간 로컬 네트워크 분리</a:t>
            </a:r>
          </a:p>
        </p:txBody>
      </p:sp>
      <p:sp>
        <p:nvSpPr>
          <p:cNvPr id="6" name="Rounded Rectangle 5"/>
          <p:cNvSpPr/>
          <p:nvPr/>
        </p:nvSpPr>
        <p:spPr>
          <a:xfrm>
            <a:off x="8229600" y="1645920"/>
            <a:ext cx="3383280" cy="3931920"/>
          </a:xfrm>
          <a:prstGeom prst="roundRect">
            <a:avLst/>
          </a:prstGeom>
          <a:solidFill>
            <a:srgbClr val="FFFFFF"/>
          </a:solidFill>
          <a:ln w="25400">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700" b="1">
                <a:solidFill>
                  <a:srgbClr val="3589D6"/>
                </a:solidFill>
                <a:latin typeface="Malgun Gothic"/>
              </a:defRPr>
            </a:pPr>
            <a:r>
              <a:t>Robot Local Platform (자율 주행)</a:t>
            </a:r>
          </a:p>
          <a:p>
            <a:pPr>
              <a:lnSpc>
                <a:spcPct val="115000"/>
              </a:lnSpc>
              <a:spcBef>
                <a:spcPts val="800"/>
              </a:spcBef>
              <a:defRPr sz="1200">
                <a:solidFill>
                  <a:srgbClr val="2B2421"/>
                </a:solidFill>
                <a:latin typeface="Malgun Gothic"/>
              </a:defRPr>
            </a:pPr>
            <a:r>
              <a:t>•  ROS 2 Jazzy 자율주행 아키텍처</a:t>
            </a:r>
          </a:p>
          <a:p>
            <a:pPr>
              <a:lnSpc>
                <a:spcPct val="115000"/>
              </a:lnSpc>
              <a:spcBef>
                <a:spcPts val="800"/>
              </a:spcBef>
              <a:defRPr sz="1200">
                <a:solidFill>
                  <a:srgbClr val="2B2421"/>
                </a:solidFill>
                <a:latin typeface="Malgun Gothic"/>
              </a:defRPr>
            </a:pPr>
            <a:r>
              <a:t>•  Nav2 기반 정밀 주행 및 장애물 회피</a:t>
            </a:r>
          </a:p>
          <a:p>
            <a:pPr>
              <a:lnSpc>
                <a:spcPct val="115000"/>
              </a:lnSpc>
              <a:spcBef>
                <a:spcPts val="800"/>
              </a:spcBef>
              <a:defRPr sz="1200">
                <a:solidFill>
                  <a:srgbClr val="2B2421"/>
                </a:solidFill>
                <a:latin typeface="Malgun Gothic"/>
              </a:defRPr>
            </a:pPr>
            <a:r>
              <a:t>•  LiDAR 스캔 및 정렬 (Align 자율화)</a:t>
            </a:r>
          </a:p>
          <a:p>
            <a:pPr>
              <a:lnSpc>
                <a:spcPct val="115000"/>
              </a:lnSpc>
              <a:spcBef>
                <a:spcPts val="800"/>
              </a:spcBef>
              <a:defRPr sz="1200">
                <a:solidFill>
                  <a:srgbClr val="2B2421"/>
                </a:solidFill>
                <a:latin typeface="Malgun Gothic"/>
              </a:defRPr>
            </a:pPr>
            <a:r>
              <a:t>•  초음파 정밀 접근 큐 실행 (Approach)</a:t>
            </a:r>
          </a:p>
        </p:txBody>
      </p:sp>
      <p:sp>
        <p:nvSpPr>
          <p:cNvPr id="7" name="TextBox 6"/>
          <p:cNvSpPr txBox="1"/>
          <p:nvPr/>
        </p:nvSpPr>
        <p:spPr>
          <a:xfrm>
            <a:off x="731520" y="5760720"/>
            <a:ext cx="10698480" cy="457200"/>
          </a:xfrm>
          <a:prstGeom prst="rect">
            <a:avLst/>
          </a:prstGeom>
          <a:noFill/>
        </p:spPr>
        <p:txBody>
          <a:bodyPr wrap="square" tIns="0" bIns="0" lIns="0" rIns="0">
            <a:spAutoFit/>
          </a:bodyPr>
          <a:lstStyle/>
          <a:p>
            <a:pPr>
              <a:defRPr sz="1100" i="1">
                <a:solidFill>
                  <a:srgbClr val="6E625D"/>
                </a:solidFill>
                <a:latin typeface="Malgun Gothic"/>
              </a:defRPr>
            </a:pPr>
            <a:r>
              <a:t>★ 왜 브리지 방식을 채택했는가? 중앙 PC가 로봇 ROS 도메인에 직접 물리지 않아 통신 오버헤드가 적고 원격 YOLO 추론 결과를 경량 API로 안정적으로 폴링할 수 있기 때문입니다.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[Try 1] Geometry &amp; Ray 기반 위치 추정 시도</a:t>
            </a:r>
          </a:p>
          <a:p>
            <a:pPr>
              <a:spcBef>
                <a:spcPts val="400"/>
              </a:spcBef>
              <a:defRPr sz="1300">
                <a:solidFill>
                  <a:srgbClr val="6E625D"/>
                </a:solidFill>
                <a:latin typeface="Malgun Gothic"/>
              </a:defRPr>
            </a:pPr>
            <a:r>
              <a:t>YOLO 2D 바운딩 박스와 로봇 오도메트리 데이터를 융합하여 맵 상 3D 위치를 기하학적으로 추정</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698480" cy="1645920"/>
          </a:xfrm>
          <a:prstGeom prst="roundRect">
            <a:avLst/>
          </a:prstGeom>
          <a:solidFill>
            <a:srgbClr val="F5F0E8"/>
          </a:solidFill>
          <a:ln>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DF5D44"/>
                </a:solidFill>
                <a:latin typeface="Malgun Gothic"/>
              </a:defRPr>
            </a:pPr>
            <a:r>
              <a:t>Geometry 기반 3D 기하학적 매칭 아이디어 개요</a:t>
            </a:r>
          </a:p>
          <a:p>
            <a:pPr>
              <a:spcBef>
                <a:spcPts val="400"/>
              </a:spcBef>
              <a:defRPr sz="1200">
                <a:solidFill>
                  <a:srgbClr val="2B2421"/>
                </a:solidFill>
                <a:latin typeface="Malgun Gothic"/>
              </a:defRPr>
            </a:pPr>
            <a:r>
              <a:t>• 원리: 카메라의 렌즈 FOV 화각 (53.5°)과 이미지 상의 물체 중심 비율을 이용하여 로봇 위치 기준 카메라가 물체를 보는 상대 각도 α를 역산</a:t>
            </a:r>
          </a:p>
          <a:p>
            <a:pPr>
              <a:spcBef>
                <a:spcPts val="400"/>
              </a:spcBef>
              <a:defRPr sz="1200">
                <a:solidFill>
                  <a:srgbClr val="2B2421"/>
                </a:solidFill>
                <a:latin typeface="Malgun Gothic"/>
              </a:defRPr>
            </a:pPr>
            <a:r>
              <a:t>• Ray 추출: ROS 2 /odom 토픽을 통해 얻은 Pinky Pro의 실시간 헤딩 방향에 역산된 α를 더해 맵 좌표계 상의 연장선(Ray) 정보 생성</a:t>
            </a:r>
          </a:p>
          <a:p>
            <a:pPr>
              <a:spcBef>
                <a:spcPts val="400"/>
              </a:spcBef>
              <a:defRPr sz="1200">
                <a:solidFill>
                  <a:srgbClr val="2B2421"/>
                </a:solidFill>
                <a:latin typeface="Malgun Gothic"/>
              </a:defRPr>
            </a:pPr>
            <a:r>
              <a:t>• OpenCV 맵 처리: Pinky Pro가 라이다로 생성한 static map 이미지에 OpenCV의 큐보이드(Cuboid) 박스 검출 필터를 적용하여 후보 물체 박스들을 추출</a:t>
            </a:r>
          </a:p>
        </p:txBody>
      </p:sp>
      <p:sp>
        <p:nvSpPr>
          <p:cNvPr id="5" name="Chevron 4"/>
          <p:cNvSpPr/>
          <p:nvPr/>
        </p:nvSpPr>
        <p:spPr>
          <a:xfrm>
            <a:off x="731520" y="3566160"/>
            <a:ext cx="2468880" cy="1188720"/>
          </a:xfrm>
          <a:prstGeom prst="chevron">
            <a:avLst/>
          </a:prstGeom>
          <a:solidFill>
            <a:srgbClr val="FFFFFF"/>
          </a:solidFill>
          <a:ln>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300" b="1">
                <a:solidFill>
                  <a:srgbClr val="2B2421"/>
                </a:solidFill>
                <a:latin typeface="Malgun Gothic"/>
              </a:defRPr>
            </a:pPr>
            <a:r>
              <a:t>1. /odom 데이터 수집</a:t>
            </a:r>
          </a:p>
          <a:p>
            <a:pPr algn="ctr">
              <a:spcBef>
                <a:spcPts val="400"/>
              </a:spcBef>
              <a:defRPr sz="1000">
                <a:solidFill>
                  <a:srgbClr val="6E625D"/>
                </a:solidFill>
                <a:latin typeface="Malgun Gothic"/>
              </a:defRPr>
            </a:pPr>
            <a:r>
              <a:t>로봇 좌표 및 방향 확인</a:t>
            </a:r>
          </a:p>
        </p:txBody>
      </p:sp>
      <p:sp>
        <p:nvSpPr>
          <p:cNvPr id="6" name="Chevron 5"/>
          <p:cNvSpPr/>
          <p:nvPr/>
        </p:nvSpPr>
        <p:spPr>
          <a:xfrm>
            <a:off x="3474720" y="3566160"/>
            <a:ext cx="2468880" cy="1188720"/>
          </a:xfrm>
          <a:prstGeom prst="chevron">
            <a:avLst/>
          </a:prstGeom>
          <a:solidFill>
            <a:srgbClr val="FFFFFF"/>
          </a:solidFill>
          <a:ln>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300" b="1">
                <a:solidFill>
                  <a:srgbClr val="2B2421"/>
                </a:solidFill>
                <a:latin typeface="Malgun Gothic"/>
              </a:defRPr>
            </a:pPr>
            <a:r>
              <a:t>2. 화각 Ray 역산</a:t>
            </a:r>
          </a:p>
          <a:p>
            <a:pPr algn="ctr">
              <a:spcBef>
                <a:spcPts val="400"/>
              </a:spcBef>
              <a:defRPr sz="1000">
                <a:solidFill>
                  <a:srgbClr val="6E625D"/>
                </a:solidFill>
                <a:latin typeface="Malgun Gothic"/>
              </a:defRPr>
            </a:pPr>
            <a:r>
              <a:t>FOV 기반 물체 각도 계산</a:t>
            </a:r>
          </a:p>
        </p:txBody>
      </p:sp>
      <p:sp>
        <p:nvSpPr>
          <p:cNvPr id="7" name="Chevron 6"/>
          <p:cNvSpPr/>
          <p:nvPr/>
        </p:nvSpPr>
        <p:spPr>
          <a:xfrm>
            <a:off x="6217920" y="3566160"/>
            <a:ext cx="2468880" cy="1188720"/>
          </a:xfrm>
          <a:prstGeom prst="chevron">
            <a:avLst/>
          </a:prstGeom>
          <a:solidFill>
            <a:srgbClr val="FFFFFF"/>
          </a:solidFill>
          <a:ln>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300" b="1">
                <a:solidFill>
                  <a:srgbClr val="2B2421"/>
                </a:solidFill>
                <a:latin typeface="Malgun Gothic"/>
              </a:defRPr>
            </a:pPr>
            <a:r>
              <a:t>3. OpenCV 맵 분석</a:t>
            </a:r>
          </a:p>
          <a:p>
            <a:pPr algn="ctr">
              <a:spcBef>
                <a:spcPts val="400"/>
              </a:spcBef>
              <a:defRPr sz="1000">
                <a:solidFill>
                  <a:srgbClr val="6E625D"/>
                </a:solidFill>
                <a:latin typeface="Malgun Gothic"/>
              </a:defRPr>
            </a:pPr>
            <a:r>
              <a:t>맵 이미지에서 박스 좌표 검출</a:t>
            </a:r>
          </a:p>
        </p:txBody>
      </p:sp>
      <p:sp>
        <p:nvSpPr>
          <p:cNvPr id="8" name="Rounded Rectangle 7"/>
          <p:cNvSpPr/>
          <p:nvPr/>
        </p:nvSpPr>
        <p:spPr>
          <a:xfrm>
            <a:off x="8961120" y="3566160"/>
            <a:ext cx="2468880" cy="1188720"/>
          </a:xfrm>
          <a:prstGeom prst="roundRect">
            <a:avLst/>
          </a:prstGeom>
          <a:solidFill>
            <a:srgbClr val="FFFFFF"/>
          </a:solidFill>
          <a:ln>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300" b="1">
                <a:solidFill>
                  <a:srgbClr val="2B2421"/>
                </a:solidFill>
                <a:latin typeface="Malgun Gothic"/>
              </a:defRPr>
            </a:pPr>
            <a:r>
              <a:t>4. 레이-박스 매칭</a:t>
            </a:r>
          </a:p>
          <a:p>
            <a:pPr algn="ctr">
              <a:spcBef>
                <a:spcPts val="400"/>
              </a:spcBef>
              <a:defRPr sz="1000">
                <a:solidFill>
                  <a:srgbClr val="6E625D"/>
                </a:solidFill>
                <a:latin typeface="Malgun Gothic"/>
              </a:defRPr>
            </a:pPr>
            <a:r>
              <a:t>Ray와 가장 가깝게 만나는 박스에 투표</a:t>
            </a:r>
          </a:p>
        </p:txBody>
      </p:sp>
      <p:sp>
        <p:nvSpPr>
          <p:cNvPr id="9" name="TextBox 8"/>
          <p:cNvSpPr txBox="1"/>
          <p:nvPr/>
        </p:nvSpPr>
        <p:spPr>
          <a:xfrm>
            <a:off x="731520" y="4937760"/>
            <a:ext cx="10698480" cy="731520"/>
          </a:xfrm>
          <a:prstGeom prst="rect">
            <a:avLst/>
          </a:prstGeom>
          <a:noFill/>
        </p:spPr>
        <p:txBody>
          <a:bodyPr wrap="square" tIns="0" bIns="0" lIns="0" rIns="0">
            <a:spAutoFit/>
          </a:bodyPr>
          <a:lstStyle/>
          <a:p>
            <a:pPr>
              <a:defRPr sz="1100" b="1">
                <a:solidFill>
                  <a:srgbClr val="6E625D"/>
                </a:solidFill>
                <a:latin typeface="Malgun Gothic"/>
              </a:defRPr>
            </a:pPr>
            <a:r>
              <a:t>※ 한계와 시사점: Ray 방식은 실시간 카메라 각도 오차가 누적될 경우, 엉뚱한 박스에 투표하는 '오투표 이슈'가 다수 발생했습니다. 이를 극복하기 위해 다량의 프레임에서 누적하여 매칭하는 '누적 투표 테이블' 기법을 우회책으로 도입했습니다.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[Try 1] 오투표 극복을 위한 누적 투표 테이블</a:t>
            </a:r>
          </a:p>
          <a:p>
            <a:pPr>
              <a:spcBef>
                <a:spcPts val="400"/>
              </a:spcBef>
              <a:defRPr sz="1300">
                <a:solidFill>
                  <a:srgbClr val="6E625D"/>
                </a:solidFill>
                <a:latin typeface="Malgun Gothic"/>
              </a:defRPr>
            </a:pPr>
            <a:r>
              <a:t>카메라 화각 각도 흔들림으로 인한 잘못된 Ray-Box 매칭을 해결하는 순차적 누적 테이블 알고리즘</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645920"/>
          <a:ext cx="5669280" cy="2926080"/>
        </p:xfrm>
        <a:graphic>
          <a:graphicData uri="http://schemas.openxmlformats.org/drawingml/2006/table">
            <a:tbl>
              <a:tblPr firstRow="1" bandRow="1">
                <a:tableStyleId>{5C22544A-7EE6-4342-B048-85BDC9FD1C3A}</a:tableStyleId>
              </a:tblPr>
              <a:tblGrid>
                <a:gridCol w="1645920"/>
                <a:gridCol w="804672"/>
                <a:gridCol w="804672"/>
                <a:gridCol w="804672"/>
                <a:gridCol w="804672"/>
                <a:gridCol w="804672"/>
              </a:tblGrid>
              <a:tr h="487680">
                <a:tc>
                  <a:txBody>
                    <a:bodyPr/>
                    <a:lstStyle/>
                    <a:p>
                      <a:pPr algn="ctr"/>
                      <a:r>
                        <a:rPr sz="1100" b="1">
                          <a:solidFill>
                            <a:srgbClr val="FFFFFF"/>
                          </a:solidFill>
                          <a:latin typeface="Malgun Gothic"/>
                        </a:rPr>
                        <a:t>Label / Box</a:t>
                      </a:r>
                    </a:p>
                  </a:txBody>
                  <a:tcPr>
                    <a:solidFill>
                      <a:srgbClr val="2B2421"/>
                    </a:solidFill>
                  </a:tcPr>
                </a:tc>
                <a:tc>
                  <a:txBody>
                    <a:bodyPr/>
                    <a:lstStyle/>
                    <a:p>
                      <a:pPr algn="ctr"/>
                      <a:r>
                        <a:rPr sz="1100" b="1">
                          <a:solidFill>
                            <a:srgbClr val="FFFFFF"/>
                          </a:solidFill>
                          <a:latin typeface="Malgun Gothic"/>
                        </a:rPr>
                        <a:t>Box 0</a:t>
                      </a:r>
                    </a:p>
                  </a:txBody>
                  <a:tcPr>
                    <a:solidFill>
                      <a:srgbClr val="2B2421"/>
                    </a:solidFill>
                  </a:tcPr>
                </a:tc>
                <a:tc>
                  <a:txBody>
                    <a:bodyPr/>
                    <a:lstStyle/>
                    <a:p>
                      <a:pPr algn="ctr"/>
                      <a:r>
                        <a:rPr sz="1100" b="1">
                          <a:solidFill>
                            <a:srgbClr val="FFFFFF"/>
                          </a:solidFill>
                          <a:latin typeface="Malgun Gothic"/>
                        </a:rPr>
                        <a:t>Box 1</a:t>
                      </a:r>
                    </a:p>
                  </a:txBody>
                  <a:tcPr>
                    <a:solidFill>
                      <a:srgbClr val="2B2421"/>
                    </a:solidFill>
                  </a:tcPr>
                </a:tc>
                <a:tc>
                  <a:txBody>
                    <a:bodyPr/>
                    <a:lstStyle/>
                    <a:p>
                      <a:pPr algn="ctr"/>
                      <a:r>
                        <a:rPr sz="1100" b="1">
                          <a:solidFill>
                            <a:srgbClr val="FFFFFF"/>
                          </a:solidFill>
                          <a:latin typeface="Malgun Gothic"/>
                        </a:rPr>
                        <a:t>Box 2</a:t>
                      </a:r>
                    </a:p>
                  </a:txBody>
                  <a:tcPr>
                    <a:solidFill>
                      <a:srgbClr val="2B2421"/>
                    </a:solidFill>
                  </a:tcPr>
                </a:tc>
                <a:tc>
                  <a:txBody>
                    <a:bodyPr/>
                    <a:lstStyle/>
                    <a:p>
                      <a:pPr algn="ctr"/>
                      <a:r>
                        <a:rPr sz="1100" b="1">
                          <a:solidFill>
                            <a:srgbClr val="FFFFFF"/>
                          </a:solidFill>
                          <a:latin typeface="Malgun Gothic"/>
                        </a:rPr>
                        <a:t>Box 3</a:t>
                      </a:r>
                    </a:p>
                  </a:txBody>
                  <a:tcPr>
                    <a:solidFill>
                      <a:srgbClr val="2B2421"/>
                    </a:solidFill>
                  </a:tcPr>
                </a:tc>
                <a:tc>
                  <a:txBody>
                    <a:bodyPr/>
                    <a:lstStyle/>
                    <a:p>
                      <a:pPr algn="ctr"/>
                      <a:r>
                        <a:rPr sz="1100" b="1">
                          <a:solidFill>
                            <a:srgbClr val="FFFFFF"/>
                          </a:solidFill>
                          <a:latin typeface="Malgun Gothic"/>
                        </a:rPr>
                        <a:t>Box 4</a:t>
                      </a:r>
                    </a:p>
                  </a:txBody>
                  <a:tcPr>
                    <a:solidFill>
                      <a:srgbClr val="2B2421"/>
                    </a:solidFill>
                  </a:tcPr>
                </a:tc>
              </a:tr>
              <a:tr h="487680">
                <a:tc>
                  <a:txBody>
                    <a:bodyPr/>
                    <a:lstStyle/>
                    <a:p>
                      <a:pPr algn="l"/>
                      <a:r>
                        <a:rPr sz="1050" b="1">
                          <a:solidFill>
                            <a:srgbClr val="2B2421"/>
                          </a:solidFill>
                          <a:latin typeface="Malgun Gothic"/>
                        </a:rPr>
                        <a:t>Apple Pie</a:t>
                      </a:r>
                    </a:p>
                  </a:txBody>
                  <a:tcPr>
                    <a:solidFill>
                      <a:srgbClr val="FFFFFF"/>
                    </a:solidFill>
                  </a:tcPr>
                </a:tc>
                <a:tc>
                  <a:txBody>
                    <a:bodyPr/>
                    <a:lstStyle/>
                    <a:p>
                      <a:pPr algn="ctr"/>
                      <a:r>
                        <a:rPr sz="1050">
                          <a:solidFill>
                            <a:srgbClr val="2B2421"/>
                          </a:solidFill>
                          <a:latin typeface="Malgun Gothic"/>
                        </a:rPr>
                        <a:t>0</a:t>
                      </a:r>
                    </a:p>
                  </a:txBody>
                  <a:tcPr>
                    <a:solidFill>
                      <a:srgbClr val="FFFFFF"/>
                    </a:solidFill>
                  </a:tcPr>
                </a:tc>
                <a:tc>
                  <a:txBody>
                    <a:bodyPr/>
                    <a:lstStyle/>
                    <a:p>
                      <a:pPr algn="ctr"/>
                      <a:r>
                        <a:rPr sz="1050">
                          <a:solidFill>
                            <a:srgbClr val="2B2421"/>
                          </a:solidFill>
                          <a:latin typeface="Malgun Gothic"/>
                        </a:rPr>
                        <a:t>5</a:t>
                      </a:r>
                    </a:p>
                  </a:txBody>
                  <a:tcPr>
                    <a:solidFill>
                      <a:srgbClr val="FFFFFF"/>
                    </a:solidFill>
                  </a:tcPr>
                </a:tc>
                <a:tc>
                  <a:txBody>
                    <a:bodyPr/>
                    <a:lstStyle/>
                    <a:p>
                      <a:pPr algn="ctr"/>
                      <a:r>
                        <a:rPr sz="1050">
                          <a:solidFill>
                            <a:srgbClr val="2B2421"/>
                          </a:solidFill>
                          <a:latin typeface="Malgun Gothic"/>
                        </a:rPr>
                        <a:t>90 (제외)</a:t>
                      </a:r>
                    </a:p>
                  </a:txBody>
                  <a:tcPr>
                    <a:solidFill>
                      <a:srgbClr val="FFFFFF"/>
                    </a:solidFill>
                  </a:tcPr>
                </a:tc>
                <a:tc>
                  <a:txBody>
                    <a:bodyPr/>
                    <a:lstStyle/>
                    <a:p>
                      <a:pPr algn="ctr"/>
                      <a:r>
                        <a:rPr sz="1050">
                          <a:solidFill>
                            <a:srgbClr val="2B2421"/>
                          </a:solidFill>
                          <a:latin typeface="Malgun Gothic"/>
                        </a:rPr>
                        <a:t>20</a:t>
                      </a:r>
                    </a:p>
                  </a:txBody>
                  <a:tcPr>
                    <a:solidFill>
                      <a:srgbClr val="FFFFFF"/>
                    </a:solidFill>
                  </a:tcPr>
                </a:tc>
                <a:tc>
                  <a:txBody>
                    <a:bodyPr/>
                    <a:lstStyle/>
                    <a:p>
                      <a:pPr algn="ctr"/>
                      <a:r>
                        <a:rPr sz="1050" b="1">
                          <a:solidFill>
                            <a:srgbClr val="FFFFFF"/>
                          </a:solidFill>
                          <a:latin typeface="Malgun Gothic"/>
                        </a:rPr>
                        <a:t>80 (매칭)</a:t>
                      </a:r>
                    </a:p>
                  </a:txBody>
                  <a:tcPr>
                    <a:solidFill>
                      <a:srgbClr val="2BA66E"/>
                    </a:solidFill>
                  </a:tcPr>
                </a:tc>
              </a:tr>
              <a:tr h="487680">
                <a:tc>
                  <a:txBody>
                    <a:bodyPr/>
                    <a:lstStyle/>
                    <a:p>
                      <a:pPr algn="l"/>
                      <a:r>
                        <a:rPr sz="1050" b="1">
                          <a:solidFill>
                            <a:srgbClr val="2B2421"/>
                          </a:solidFill>
                          <a:latin typeface="Malgun Gothic"/>
                        </a:rPr>
                        <a:t>Banana Pudding</a:t>
                      </a:r>
                    </a:p>
                  </a:txBody>
                  <a:tcPr>
                    <a:solidFill>
                      <a:srgbClr val="F5F0E8"/>
                    </a:solidFill>
                  </a:tcPr>
                </a:tc>
                <a:tc>
                  <a:txBody>
                    <a:bodyPr/>
                    <a:lstStyle/>
                    <a:p>
                      <a:pPr algn="ctr"/>
                      <a:r>
                        <a:rPr sz="1050">
                          <a:solidFill>
                            <a:srgbClr val="2B2421"/>
                          </a:solidFill>
                          <a:latin typeface="Malgun Gothic"/>
                        </a:rPr>
                        <a:t>0</a:t>
                      </a:r>
                    </a:p>
                  </a:txBody>
                  <a:tcPr>
                    <a:solidFill>
                      <a:srgbClr val="F5F0E8"/>
                    </a:solidFill>
                  </a:tcPr>
                </a:tc>
                <a:tc>
                  <a:txBody>
                    <a:bodyPr/>
                    <a:lstStyle/>
                    <a:p>
                      <a:pPr algn="ctr"/>
                      <a:r>
                        <a:rPr sz="1050">
                          <a:solidFill>
                            <a:srgbClr val="2B2421"/>
                          </a:solidFill>
                          <a:latin typeface="Malgun Gothic"/>
                        </a:rPr>
                        <a:t>15</a:t>
                      </a:r>
                    </a:p>
                  </a:txBody>
                  <a:tcPr>
                    <a:solidFill>
                      <a:srgbClr val="F5F0E8"/>
                    </a:solidFill>
                  </a:tcPr>
                </a:tc>
                <a:tc>
                  <a:txBody>
                    <a:bodyPr/>
                    <a:lstStyle/>
                    <a:p>
                      <a:pPr algn="ctr"/>
                      <a:r>
                        <a:rPr sz="1050">
                          <a:solidFill>
                            <a:srgbClr val="2B2421"/>
                          </a:solidFill>
                          <a:latin typeface="Malgun Gothic"/>
                        </a:rPr>
                        <a:t>20</a:t>
                      </a:r>
                    </a:p>
                  </a:txBody>
                  <a:tcPr>
                    <a:solidFill>
                      <a:srgbClr val="F5F0E8"/>
                    </a:solidFill>
                  </a:tcPr>
                </a:tc>
                <a:tc>
                  <a:txBody>
                    <a:bodyPr/>
                    <a:lstStyle/>
                    <a:p>
                      <a:pPr algn="ctr"/>
                      <a:r>
                        <a:rPr sz="1050">
                          <a:solidFill>
                            <a:srgbClr val="2B2421"/>
                          </a:solidFill>
                          <a:latin typeface="Malgun Gothic"/>
                        </a:rPr>
                        <a:t>70</a:t>
                      </a:r>
                    </a:p>
                  </a:txBody>
                  <a:tcPr>
                    <a:solidFill>
                      <a:srgbClr val="F5F0E8"/>
                    </a:solidFill>
                  </a:tcPr>
                </a:tc>
                <a:tc>
                  <a:txBody>
                    <a:bodyPr/>
                    <a:lstStyle/>
                    <a:p>
                      <a:pPr algn="ctr"/>
                      <a:r>
                        <a:rPr sz="1050">
                          <a:solidFill>
                            <a:srgbClr val="2B2421"/>
                          </a:solidFill>
                          <a:latin typeface="Malgun Gothic"/>
                        </a:rPr>
                        <a:t>0</a:t>
                      </a:r>
                    </a:p>
                  </a:txBody>
                  <a:tcPr>
                    <a:solidFill>
                      <a:srgbClr val="F5F0E8"/>
                    </a:solidFill>
                  </a:tcPr>
                </a:tc>
              </a:tr>
              <a:tr h="487680">
                <a:tc>
                  <a:txBody>
                    <a:bodyPr/>
                    <a:lstStyle/>
                    <a:p>
                      <a:pPr algn="l"/>
                      <a:r>
                        <a:rPr sz="1050" b="1">
                          <a:solidFill>
                            <a:srgbClr val="2B2421"/>
                          </a:solidFill>
                          <a:latin typeface="Malgun Gothic"/>
                        </a:rPr>
                        <a:t>Carrot Soup</a:t>
                      </a:r>
                    </a:p>
                  </a:txBody>
                  <a:tcPr>
                    <a:solidFill>
                      <a:srgbClr val="FFFFFF"/>
                    </a:solidFill>
                  </a:tcPr>
                </a:tc>
                <a:tc>
                  <a:txBody>
                    <a:bodyPr/>
                    <a:lstStyle/>
                    <a:p>
                      <a:pPr algn="ctr"/>
                      <a:r>
                        <a:rPr sz="1050">
                          <a:solidFill>
                            <a:srgbClr val="2B2421"/>
                          </a:solidFill>
                          <a:latin typeface="Malgun Gothic"/>
                        </a:rPr>
                        <a:t>65</a:t>
                      </a:r>
                    </a:p>
                  </a:txBody>
                  <a:tcPr>
                    <a:solidFill>
                      <a:srgbClr val="FFFFFF"/>
                    </a:solidFill>
                  </a:tcPr>
                </a:tc>
                <a:tc>
                  <a:txBody>
                    <a:bodyPr/>
                    <a:lstStyle/>
                    <a:p>
                      <a:pPr algn="ctr"/>
                      <a:r>
                        <a:rPr sz="1050">
                          <a:solidFill>
                            <a:srgbClr val="2B2421"/>
                          </a:solidFill>
                          <a:latin typeface="Malgun Gothic"/>
                        </a:rPr>
                        <a:t>50</a:t>
                      </a:r>
                    </a:p>
                  </a:txBody>
                  <a:tcPr>
                    <a:solidFill>
                      <a:srgbClr val="FFFFFF"/>
                    </a:solidFill>
                  </a:tcPr>
                </a:tc>
                <a:tc>
                  <a:txBody>
                    <a:bodyPr/>
                    <a:lstStyle/>
                    <a:p>
                      <a:pPr algn="ctr"/>
                      <a:r>
                        <a:rPr sz="1050">
                          <a:solidFill>
                            <a:srgbClr val="2B2421"/>
                          </a:solidFill>
                          <a:latin typeface="Malgun Gothic"/>
                        </a:rPr>
                        <a:t>10</a:t>
                      </a:r>
                    </a:p>
                  </a:txBody>
                  <a:tcPr>
                    <a:solidFill>
                      <a:srgbClr val="FFFFFF"/>
                    </a:solidFill>
                  </a:tcPr>
                </a:tc>
                <a:tc>
                  <a:txBody>
                    <a:bodyPr/>
                    <a:lstStyle/>
                    <a:p>
                      <a:pPr algn="ctr"/>
                      <a:r>
                        <a:rPr sz="1050">
                          <a:solidFill>
                            <a:srgbClr val="2B2421"/>
                          </a:solidFill>
                          <a:latin typeface="Malgun Gothic"/>
                        </a:rPr>
                        <a:t>10</a:t>
                      </a:r>
                    </a:p>
                  </a:txBody>
                  <a:tcPr>
                    <a:solidFill>
                      <a:srgbClr val="FFFFFF"/>
                    </a:solidFill>
                  </a:tcPr>
                </a:tc>
                <a:tc>
                  <a:txBody>
                    <a:bodyPr/>
                    <a:lstStyle/>
                    <a:p>
                      <a:pPr algn="ctr"/>
                      <a:r>
                        <a:rPr sz="1050">
                          <a:solidFill>
                            <a:srgbClr val="2B2421"/>
                          </a:solidFill>
                          <a:latin typeface="Malgun Gothic"/>
                        </a:rPr>
                        <a:t>20</a:t>
                      </a:r>
                    </a:p>
                  </a:txBody>
                  <a:tcPr>
                    <a:solidFill>
                      <a:srgbClr val="FFFFFF"/>
                    </a:solidFill>
                  </a:tcPr>
                </a:tc>
              </a:tr>
              <a:tr h="487680">
                <a:tc>
                  <a:txBody>
                    <a:bodyPr/>
                    <a:lstStyle/>
                    <a:p>
                      <a:pPr algn="l"/>
                      <a:r>
                        <a:rPr sz="1050" b="1">
                          <a:solidFill>
                            <a:srgbClr val="2B2421"/>
                          </a:solidFill>
                          <a:latin typeface="Malgun Gothic"/>
                        </a:rPr>
                        <a:t>Orange Jelly</a:t>
                      </a:r>
                    </a:p>
                  </a:txBody>
                  <a:tcPr>
                    <a:solidFill>
                      <a:srgbClr val="F5F0E8"/>
                    </a:solidFill>
                  </a:tcPr>
                </a:tc>
                <a:tc>
                  <a:txBody>
                    <a:bodyPr/>
                    <a:lstStyle/>
                    <a:p>
                      <a:pPr algn="ctr"/>
                      <a:r>
                        <a:rPr sz="1050">
                          <a:solidFill>
                            <a:srgbClr val="2B2421"/>
                          </a:solidFill>
                          <a:latin typeface="Malgun Gothic"/>
                        </a:rPr>
                        <a:t>60</a:t>
                      </a:r>
                    </a:p>
                  </a:txBody>
                  <a:tcPr>
                    <a:solidFill>
                      <a:srgbClr val="F5F0E8"/>
                    </a:solidFill>
                  </a:tcPr>
                </a:tc>
                <a:tc>
                  <a:txBody>
                    <a:bodyPr/>
                    <a:lstStyle/>
                    <a:p>
                      <a:pPr algn="ctr"/>
                      <a:r>
                        <a:rPr sz="1050">
                          <a:solidFill>
                            <a:srgbClr val="2B2421"/>
                          </a:solidFill>
                          <a:latin typeface="Malgun Gothic"/>
                        </a:rPr>
                        <a:t>10</a:t>
                      </a:r>
                    </a:p>
                  </a:txBody>
                  <a:tcPr>
                    <a:solidFill>
                      <a:srgbClr val="F5F0E8"/>
                    </a:solidFill>
                  </a:tcPr>
                </a:tc>
                <a:tc>
                  <a:txBody>
                    <a:bodyPr/>
                    <a:lstStyle/>
                    <a:p>
                      <a:pPr algn="ctr"/>
                      <a:r>
                        <a:rPr sz="1050">
                          <a:solidFill>
                            <a:srgbClr val="2B2421"/>
                          </a:solidFill>
                          <a:latin typeface="Malgun Gothic"/>
                        </a:rPr>
                        <a:t>20</a:t>
                      </a:r>
                    </a:p>
                  </a:txBody>
                  <a:tcPr>
                    <a:solidFill>
                      <a:srgbClr val="F5F0E8"/>
                    </a:solidFill>
                  </a:tcPr>
                </a:tc>
                <a:tc>
                  <a:txBody>
                    <a:bodyPr/>
                    <a:lstStyle/>
                    <a:p>
                      <a:pPr algn="ctr"/>
                      <a:r>
                        <a:rPr sz="1050">
                          <a:solidFill>
                            <a:srgbClr val="2B2421"/>
                          </a:solidFill>
                          <a:latin typeface="Malgun Gothic"/>
                        </a:rPr>
                        <a:t>0</a:t>
                      </a:r>
                    </a:p>
                  </a:txBody>
                  <a:tcPr>
                    <a:solidFill>
                      <a:srgbClr val="F5F0E8"/>
                    </a:solidFill>
                  </a:tcPr>
                </a:tc>
                <a:tc>
                  <a:txBody>
                    <a:bodyPr/>
                    <a:lstStyle/>
                    <a:p>
                      <a:pPr algn="ctr"/>
                      <a:r>
                        <a:rPr sz="1050">
                          <a:solidFill>
                            <a:srgbClr val="2B2421"/>
                          </a:solidFill>
                          <a:latin typeface="Malgun Gothic"/>
                        </a:rPr>
                        <a:t>0</a:t>
                      </a:r>
                    </a:p>
                  </a:txBody>
                  <a:tcPr>
                    <a:solidFill>
                      <a:srgbClr val="F5F0E8"/>
                    </a:solidFill>
                  </a:tcPr>
                </a:tc>
              </a:tr>
              <a:tr h="487680">
                <a:tc>
                  <a:txBody>
                    <a:bodyPr/>
                    <a:lstStyle/>
                    <a:p>
                      <a:pPr algn="l"/>
                      <a:r>
                        <a:rPr sz="1050" b="1">
                          <a:solidFill>
                            <a:srgbClr val="2B2421"/>
                          </a:solidFill>
                          <a:latin typeface="Malgun Gothic"/>
                        </a:rPr>
                        <a:t>Serving Bell</a:t>
                      </a:r>
                    </a:p>
                  </a:txBody>
                  <a:tcPr>
                    <a:solidFill>
                      <a:srgbClr val="FFFFFF"/>
                    </a:solidFill>
                  </a:tcPr>
                </a:tc>
                <a:tc>
                  <a:txBody>
                    <a:bodyPr/>
                    <a:lstStyle/>
                    <a:p>
                      <a:pPr algn="ctr"/>
                      <a:r>
                        <a:rPr sz="1050">
                          <a:solidFill>
                            <a:srgbClr val="2B2421"/>
                          </a:solidFill>
                          <a:latin typeface="Malgun Gothic"/>
                        </a:rPr>
                        <a:t>0</a:t>
                      </a:r>
                    </a:p>
                  </a:txBody>
                  <a:tcPr>
                    <a:solidFill>
                      <a:srgbClr val="FFFFFF"/>
                    </a:solidFill>
                  </a:tcPr>
                </a:tc>
                <a:tc>
                  <a:txBody>
                    <a:bodyPr/>
                    <a:lstStyle/>
                    <a:p>
                      <a:pPr algn="ctr"/>
                      <a:r>
                        <a:rPr sz="1050">
                          <a:solidFill>
                            <a:srgbClr val="2B2421"/>
                          </a:solidFill>
                          <a:latin typeface="Malgun Gothic"/>
                        </a:rPr>
                        <a:t>10</a:t>
                      </a:r>
                    </a:p>
                  </a:txBody>
                  <a:tcPr>
                    <a:solidFill>
                      <a:srgbClr val="FFFFFF"/>
                    </a:solidFill>
                  </a:tcPr>
                </a:tc>
                <a:tc>
                  <a:txBody>
                    <a:bodyPr/>
                    <a:lstStyle/>
                    <a:p>
                      <a:pPr algn="ctr"/>
                      <a:r>
                        <a:rPr sz="1050" b="1">
                          <a:solidFill>
                            <a:srgbClr val="FFFFFF"/>
                          </a:solidFill>
                          <a:latin typeface="Malgun Gothic"/>
                        </a:rPr>
                        <a:t>100 (매칭)</a:t>
                      </a:r>
                    </a:p>
                  </a:txBody>
                  <a:tcPr>
                    <a:solidFill>
                      <a:srgbClr val="2BA66E"/>
                    </a:solidFill>
                  </a:tcPr>
                </a:tc>
                <a:tc>
                  <a:txBody>
                    <a:bodyPr/>
                    <a:lstStyle/>
                    <a:p>
                      <a:pPr algn="ctr"/>
                      <a:r>
                        <a:rPr sz="1050">
                          <a:solidFill>
                            <a:srgbClr val="2B2421"/>
                          </a:solidFill>
                          <a:latin typeface="Malgun Gothic"/>
                        </a:rPr>
                        <a:t>20</a:t>
                      </a:r>
                    </a:p>
                  </a:txBody>
                  <a:tcPr>
                    <a:solidFill>
                      <a:srgbClr val="FFFFFF"/>
                    </a:solidFill>
                  </a:tcPr>
                </a:tc>
                <a:tc>
                  <a:txBody>
                    <a:bodyPr/>
                    <a:lstStyle/>
                    <a:p>
                      <a:pPr algn="ctr"/>
                      <a:r>
                        <a:rPr sz="1050">
                          <a:solidFill>
                            <a:srgbClr val="2B2421"/>
                          </a:solidFill>
                          <a:latin typeface="Malgun Gothic"/>
                        </a:rPr>
                        <a:t>20</a:t>
                      </a:r>
                    </a:p>
                  </a:txBody>
                  <a:tcPr>
                    <a:solidFill>
                      <a:srgbClr val="FFFFFF"/>
                    </a:solidFill>
                  </a:tcPr>
                </a:tc>
              </a:tr>
            </a:tbl>
          </a:graphicData>
        </a:graphic>
      </p:graphicFrame>
      <p:sp>
        <p:nvSpPr>
          <p:cNvPr id="5" name="Rounded Rectangle 4"/>
          <p:cNvSpPr/>
          <p:nvPr/>
        </p:nvSpPr>
        <p:spPr>
          <a:xfrm>
            <a:off x="6766560" y="1645920"/>
            <a:ext cx="4663440" cy="2926080"/>
          </a:xfrm>
          <a:prstGeom prst="roundRect">
            <a:avLst/>
          </a:prstGeom>
          <a:solidFill>
            <a:srgbClr val="FFFFFF"/>
          </a:solidFill>
          <a:ln w="1905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500" b="1">
                <a:solidFill>
                  <a:srgbClr val="DF5D44"/>
                </a:solidFill>
                <a:latin typeface="Malgun Gothic"/>
              </a:defRPr>
            </a:pPr>
            <a:r>
              <a:t>알고리즘 매칭 프로세스</a:t>
            </a:r>
          </a:p>
          <a:p>
            <a:pPr>
              <a:lnSpc>
                <a:spcPct val="110000"/>
              </a:lnSpc>
              <a:spcBef>
                <a:spcPts val="600"/>
              </a:spcBef>
              <a:defRPr sz="1100">
                <a:solidFill>
                  <a:srgbClr val="2B2421"/>
                </a:solidFill>
                <a:latin typeface="Malgun Gothic"/>
              </a:defRPr>
            </a:pPr>
            <a:r>
              <a:t>1단계: 전체 테이블에서 가장 높은 점수(100점)를 득한 (Serving Bell, Box 2)을 1차 매칭으로 확정합니다.</a:t>
            </a:r>
          </a:p>
          <a:p>
            <a:pPr>
              <a:lnSpc>
                <a:spcPct val="110000"/>
              </a:lnSpc>
              <a:spcBef>
                <a:spcPts val="600"/>
              </a:spcBef>
              <a:defRPr sz="1100">
                <a:solidFill>
                  <a:srgbClr val="2B2421"/>
                </a:solidFill>
                <a:latin typeface="Malgun Gothic"/>
              </a:defRPr>
            </a:pPr>
            <a:r>
              <a:t>2단계: 매칭 확정된 Box 2의 열 데이터 전체를 제외(Masking) 처리하여 후속 매칭 경쟁에서 차단합니다.</a:t>
            </a:r>
          </a:p>
          <a:p>
            <a:pPr>
              <a:lnSpc>
                <a:spcPct val="110000"/>
              </a:lnSpc>
              <a:spcBef>
                <a:spcPts val="600"/>
              </a:spcBef>
              <a:defRPr sz="1100">
                <a:solidFill>
                  <a:srgbClr val="2B2421"/>
                </a:solidFill>
                <a:latin typeface="Malgun Gothic"/>
              </a:defRPr>
            </a:pPr>
            <a:r>
              <a:t>3단계: 남은 후보 중 최고점(80점)인 (Apple Pie, Box 4)를 2차 매칭하여, 원래 Box 2에 오투표된 각도 노이즈를 극복합니다.</a:t>
            </a:r>
          </a:p>
          <a:p>
            <a:pPr>
              <a:lnSpc>
                <a:spcPct val="110000"/>
              </a:lnSpc>
              <a:spcBef>
                <a:spcPts val="600"/>
              </a:spcBef>
              <a:defRPr sz="1100">
                <a:solidFill>
                  <a:srgbClr val="2B2421"/>
                </a:solidFill>
                <a:latin typeface="Malgun Gothic"/>
              </a:defRPr>
            </a:pPr>
            <a:r>
              <a:t>결과: 노이즈가 발생한 상황에서도 순차적 제외 투표 기법을 통해 높은 매칭 정밀도를 기록했습니다.</a:t>
            </a:r>
          </a:p>
        </p:txBody>
      </p:sp>
      <p:sp>
        <p:nvSpPr>
          <p:cNvPr id="6" name="TextBox 5"/>
          <p:cNvSpPr txBox="1"/>
          <p:nvPr/>
        </p:nvSpPr>
        <p:spPr>
          <a:xfrm>
            <a:off x="731520" y="4754880"/>
            <a:ext cx="10698480" cy="731520"/>
          </a:xfrm>
          <a:prstGeom prst="rect">
            <a:avLst/>
          </a:prstGeom>
          <a:noFill/>
        </p:spPr>
        <p:txBody>
          <a:bodyPr wrap="square" tIns="0" bIns="0" lIns="0" rIns="0">
            <a:spAutoFit/>
          </a:bodyPr>
          <a:lstStyle/>
          <a:p>
            <a:pPr>
              <a:lnSpc>
                <a:spcPct val="115000"/>
              </a:lnSpc>
              <a:defRPr sz="1100" b="1">
                <a:solidFill>
                  <a:srgbClr val="6E625D"/>
                </a:solidFill>
                <a:latin typeface="Malgun Gothic"/>
              </a:defRPr>
            </a:pPr>
            <a:r>
              <a:t>※ 최종 파이프라인 적용과의 차이: 본 Geometry 투표 방식도 오돔 및 초기화 위치의 정합 한계가 있어, 최종 버전에서는 이미지 상의 Bearing 각도와 3D LiDAR 포인트 클러스터링 기반 Bearing 각도를 직접 매칭하는 최신 yolo_nav_fusion.py(3초 윈도우 누적 득표 방식)로 대체 고도화되었습니다.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[Try 2] ROS 2 기반 로봇 간 상태 관리 및 사전 검증</a:t>
            </a:r>
          </a:p>
          <a:p>
            <a:pPr>
              <a:spcBef>
                <a:spcPts val="400"/>
              </a:spcBef>
              <a:defRPr sz="1300">
                <a:solidFill>
                  <a:srgbClr val="6E625D"/>
                </a:solidFill>
                <a:latin typeface="Malgun Gothic"/>
              </a:defRPr>
            </a:pPr>
            <a:r>
              <a:t>실제 로봇 주행 전, fake_odom_publisher를 활용한 교환소 상태 전환 알고리즘 시뮬레이션</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029200" cy="2926080"/>
          </a:xfrm>
          <a:prstGeom prst="roundRect">
            <a:avLst/>
          </a:prstGeom>
          <a:solidFill>
            <a:srgbClr val="F5F0E8"/>
          </a:solidFill>
          <a:ln>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3589D6"/>
                </a:solidFill>
                <a:latin typeface="Malgun Gothic"/>
              </a:defRPr>
            </a:pPr>
            <a:r>
              <a:t>가상 오돔 시뮬레이션 목적 및 구조</a:t>
            </a:r>
          </a:p>
          <a:p>
            <a:pPr>
              <a:spcBef>
                <a:spcPts val="600"/>
              </a:spcBef>
              <a:defRPr sz="1100">
                <a:solidFill>
                  <a:srgbClr val="2B2421"/>
                </a:solidFill>
                <a:latin typeface="Malgun Gothic"/>
              </a:defRPr>
            </a:pPr>
            <a:r>
              <a:t>• MissionCycleManager 노드: 두 대 로봇의 상태 및 핸드오프 단계를 제어하는 메인 시퀀스 상태 머신</a:t>
            </a:r>
          </a:p>
          <a:p>
            <a:pPr>
              <a:spcBef>
                <a:spcPts val="600"/>
              </a:spcBef>
              <a:defRPr sz="1100">
                <a:solidFill>
                  <a:srgbClr val="2B2421"/>
                </a:solidFill>
                <a:latin typeface="Malgun Gothic"/>
              </a:defRPr>
            </a:pPr>
            <a:r>
              <a:t>• fake_cycle_odom_publisher: 실제 로봇 기체 주행 없이 가상의 odom을 publish하여 PC 관제 동작 선검증</a:t>
            </a:r>
          </a:p>
          <a:p>
            <a:pPr>
              <a:spcBef>
                <a:spcPts val="600"/>
              </a:spcBef>
              <a:defRPr sz="1100">
                <a:solidFill>
                  <a:srgbClr val="2B2421"/>
                </a:solidFill>
                <a:latin typeface="Malgun Gothic"/>
              </a:defRPr>
            </a:pPr>
            <a:r>
              <a:t>• 핸드오버 트리거 조건: 두 로봇의 가상 odom 수치가 교환 위치 반경 20cm 이내에 진입하는 것을 실시간 판정</a:t>
            </a:r>
          </a:p>
          <a:p>
            <a:pPr>
              <a:spcBef>
                <a:spcPts val="600"/>
              </a:spcBef>
              <a:defRPr sz="1100">
                <a:solidFill>
                  <a:srgbClr val="2B2421"/>
                </a:solidFill>
                <a:latin typeface="Malgun Gothic"/>
              </a:defRPr>
            </a:pPr>
            <a:r>
              <a:t>• 발표용 로그 최적화: publish_on_change_only 파라미터를 추가하여 상태 변화 시에만 터미널에 로그를 표시</a:t>
            </a:r>
          </a:p>
        </p:txBody>
      </p:sp>
      <p:sp>
        <p:nvSpPr>
          <p:cNvPr id="5" name="Rounded Rectangle 4"/>
          <p:cNvSpPr/>
          <p:nvPr/>
        </p:nvSpPr>
        <p:spPr>
          <a:xfrm>
            <a:off x="6126480" y="1645920"/>
            <a:ext cx="5303520" cy="2926080"/>
          </a:xfrm>
          <a:prstGeom prst="roundRect">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2B2421"/>
                </a:solidFill>
                <a:latin typeface="Malgun Gothic"/>
              </a:defRPr>
            </a:pPr>
            <a:r>
              <a:t>협업 시나리오 상태 전환 흐름 (State Machine)</a:t>
            </a:r>
          </a:p>
          <a:p>
            <a:pPr>
              <a:spcBef>
                <a:spcPts val="500"/>
              </a:spcBef>
              <a:defRPr sz="1100">
                <a:solidFill>
                  <a:srgbClr val="2B2421"/>
                </a:solidFill>
                <a:latin typeface="Malgun Gothic"/>
              </a:defRPr>
            </a:pPr>
            <a:r>
              <a:t>▶ MOVING_TO_INGREDIENT </a:t>
            </a:r>
            <a:br/>
            <a:r>
              <a:t>   : Supplier 로봇이 과일 구역으로 자율 주행</a:t>
            </a:r>
          </a:p>
          <a:p>
            <a:pPr>
              <a:spcBef>
                <a:spcPts val="500"/>
              </a:spcBef>
              <a:defRPr sz="1100">
                <a:solidFill>
                  <a:srgbClr val="2B2421"/>
                </a:solidFill>
                <a:latin typeface="Malgun Gothic"/>
              </a:defRPr>
            </a:pPr>
            <a:r>
              <a:t>▶ WAITING_HANDOVER </a:t>
            </a:r>
            <a:br/>
            <a:r>
              <a:t>   : 과일 도달 후, 두 로봇이 교환소로 각각 이동</a:t>
            </a:r>
          </a:p>
          <a:p>
            <a:pPr>
              <a:spcBef>
                <a:spcPts val="500"/>
              </a:spcBef>
              <a:defRPr sz="1100" b="1">
                <a:solidFill>
                  <a:srgbClr val="2BA66E"/>
                </a:solidFill>
                <a:latin typeface="Malgun Gothic"/>
              </a:defRPr>
            </a:pPr>
            <a:r>
              <a:t>▶ HANDOVER_COMPLETE </a:t>
            </a:r>
            <a:br/>
            <a:r>
              <a:t>   : 양쪽 반경 20cm 진입 완료 (both_arrived AND 조건)</a:t>
            </a:r>
          </a:p>
          <a:p>
            <a:pPr>
              <a:spcBef>
                <a:spcPts val="500"/>
              </a:spcBef>
              <a:defRPr sz="1100">
                <a:solidFill>
                  <a:srgbClr val="2B2421"/>
                </a:solidFill>
                <a:latin typeface="Malgun Gothic"/>
              </a:defRPr>
            </a:pPr>
            <a:r>
              <a:t>▶ DELIVERED </a:t>
            </a:r>
            <a:br/>
            <a:r>
              <a:t>   : Server 로봇이 과일 수거 후, 손님 배달 완료</a:t>
            </a:r>
          </a:p>
        </p:txBody>
      </p:sp>
      <p:sp>
        <p:nvSpPr>
          <p:cNvPr id="6" name="TextBox 5"/>
          <p:cNvSpPr txBox="1"/>
          <p:nvPr/>
        </p:nvSpPr>
        <p:spPr>
          <a:xfrm>
            <a:off x="731520" y="4754880"/>
            <a:ext cx="10698480" cy="731520"/>
          </a:xfrm>
          <a:prstGeom prst="rect">
            <a:avLst/>
          </a:prstGeom>
          <a:noFill/>
        </p:spPr>
        <p:txBody>
          <a:bodyPr wrap="square" tIns="0" bIns="0" lIns="0" rIns="0">
            <a:spAutoFit/>
          </a:bodyPr>
          <a:lstStyle/>
          <a:p>
            <a:pPr>
              <a:defRPr sz="1100" b="1">
                <a:solidFill>
                  <a:srgbClr val="6E625D"/>
                </a:solidFill>
                <a:latin typeface="Malgun Gothic"/>
              </a:defRPr>
            </a:pPr>
            <a:r>
              <a:t>※ 시뮬레이션 성과: 실제 ROS2 물리 환경에서 센서 오작동 및 구동 장치 충돌 등의 변수를 제외한 순수 '비즈니스 로직 및 동기화 루프'를 먼저 사전 검증함으로써, 개발 소요 시간을 대폭 단축할 수 있었습니다.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[Final] 센서 융합 &amp; 3단계 미세 접근 (Fine Approach)</a:t>
            </a:r>
          </a:p>
          <a:p>
            <a:pPr>
              <a:spcBef>
                <a:spcPts val="400"/>
              </a:spcBef>
              <a:defRPr sz="1300">
                <a:solidFill>
                  <a:srgbClr val="6E625D"/>
                </a:solidFill>
                <a:latin typeface="Malgun Gothic"/>
              </a:defRPr>
            </a:pPr>
            <a:r>
              <a:t>YOLO Bearings와 라이다 포인트 융합 검출 및 3단계 파이프라인 기반의 정밀 이동 기법</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029200" cy="3931920"/>
          </a:xfrm>
          <a:prstGeom prst="roundRect">
            <a:avLst/>
          </a:prstGeom>
          <a:solidFill>
            <a:srgbClr val="FFFFFF"/>
          </a:solidFill>
          <a:ln w="2540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200"/>
              </a:spcAft>
              <a:defRPr sz="1600" b="1">
                <a:solidFill>
                  <a:srgbClr val="DF5D44"/>
                </a:solidFill>
                <a:latin typeface="Malgun Gothic"/>
              </a:defRPr>
            </a:pPr>
            <a:r>
              <a:t>1. LiDAR + YOLO 센서 융합 (Sensor Fusion)</a:t>
            </a:r>
          </a:p>
          <a:p>
            <a:pPr>
              <a:lnSpc>
                <a:spcPct val="115000"/>
              </a:lnSpc>
              <a:spcBef>
                <a:spcPts val="800"/>
              </a:spcBef>
              <a:defRPr sz="1100">
                <a:solidFill>
                  <a:srgbClr val="2B2421"/>
                </a:solidFill>
                <a:latin typeface="Malgun Gothic"/>
              </a:defRPr>
            </a:pPr>
            <a:r>
              <a:t>• LiDAR 객체 클러스터링: /scan 토픽을 분석하여 동적 포인트 클러스터 추출 및 맵 좌표 등록 (lidar_object_tracker.py)</a:t>
            </a:r>
          </a:p>
          <a:p>
            <a:pPr>
              <a:lnSpc>
                <a:spcPct val="115000"/>
              </a:lnSpc>
              <a:spcBef>
                <a:spcPts val="800"/>
              </a:spcBef>
              <a:defRPr sz="1100">
                <a:solidFill>
                  <a:srgbClr val="2B2421"/>
                </a:solidFill>
                <a:latin typeface="Malgun Gothic"/>
              </a:defRPr>
            </a:pPr>
            <a:r>
              <a:t>• YOLO 객체 바운딩 박스: PC의 GPU를 이용하여 9개 주방 전용 클래스 및 Bearing 화각 비율 실시간 추론</a:t>
            </a:r>
          </a:p>
          <a:p>
            <a:pPr>
              <a:lnSpc>
                <a:spcPct val="115000"/>
              </a:lnSpc>
              <a:spcBef>
                <a:spcPts val="800"/>
              </a:spcBef>
              <a:defRPr sz="1100">
                <a:solidFill>
                  <a:srgbClr val="2B2421"/>
                </a:solidFill>
                <a:latin typeface="Malgun Gothic"/>
              </a:defRPr>
            </a:pPr>
            <a:r>
              <a:t>• Bearing 매칭 및 투표: LiDAR 데이터와 YOLO 이미지 Bearing 화각 각도를 Direct 매칭</a:t>
            </a:r>
          </a:p>
          <a:p>
            <a:pPr>
              <a:lnSpc>
                <a:spcPct val="115000"/>
              </a:lnSpc>
              <a:spcBef>
                <a:spcPts val="800"/>
              </a:spcBef>
              <a:defRPr sz="1100">
                <a:solidFill>
                  <a:srgbClr val="2B2421"/>
                </a:solidFill>
                <a:latin typeface="Malgun Gothic"/>
              </a:defRPr>
            </a:pPr>
            <a:r>
              <a:t>• ClusterClassVoter: 노이즈 필터링을 위한 '3초 시간 윈도우 투표'를 적용하여 클러스터 클래스 최종 고정 후 라벨 업데이트</a:t>
            </a:r>
          </a:p>
        </p:txBody>
      </p:sp>
      <p:sp>
        <p:nvSpPr>
          <p:cNvPr id="5" name="Rounded Rectangle 4"/>
          <p:cNvSpPr/>
          <p:nvPr/>
        </p:nvSpPr>
        <p:spPr>
          <a:xfrm>
            <a:off x="6126480" y="1645920"/>
            <a:ext cx="5303520" cy="3931920"/>
          </a:xfrm>
          <a:prstGeom prst="roundRect">
            <a:avLst/>
          </a:prstGeom>
          <a:solidFill>
            <a:srgbClr val="FFFFFF"/>
          </a:solidFill>
          <a:ln w="25400">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200"/>
              </a:spcAft>
              <a:defRPr sz="1600" b="1">
                <a:solidFill>
                  <a:srgbClr val="3589D6"/>
                </a:solidFill>
                <a:latin typeface="Malgun Gothic"/>
              </a:defRPr>
            </a:pPr>
            <a:r>
              <a:t>2. 명령 큐 기반 3단계 미세 접근 (Fine Approach)</a:t>
            </a:r>
          </a:p>
          <a:p>
            <a:pPr>
              <a:lnSpc>
                <a:spcPct val="115000"/>
              </a:lnSpc>
              <a:spcBef>
                <a:spcPts val="1000"/>
              </a:spcBef>
              <a:defRPr sz="1100">
                <a:solidFill>
                  <a:srgbClr val="2B2421"/>
                </a:solidFill>
                <a:latin typeface="Malgun Gothic"/>
              </a:defRPr>
            </a:pPr>
            <a:r>
              <a:t>▶ Step 1 (Nav2 자율주행)</a:t>
            </a:r>
            <a:br/>
            <a:r>
              <a:t>   : 라벨 좌표 앞 0.3m(approach_distance) 지점까지 자율 이동을 수행 (command_queue.py)</a:t>
            </a:r>
          </a:p>
          <a:p>
            <a:pPr>
              <a:lnSpc>
                <a:spcPct val="115000"/>
              </a:lnSpc>
              <a:spcBef>
                <a:spcPts val="1000"/>
              </a:spcBef>
              <a:defRPr sz="1100">
                <a:solidFill>
                  <a:srgbClr val="2B2421"/>
                </a:solidFill>
                <a:latin typeface="Malgun Gothic"/>
              </a:defRPr>
            </a:pPr>
            <a:r>
              <a:t>▶ Step 2 (Align 정렬 및 보정)</a:t>
            </a:r>
            <a:br/>
            <a:r>
              <a:t>   : LiDAR 스캔 및 방향 정렬을 통해 ±0.05m 편차 범위 내로 로봇 방향과 standoff 확인</a:t>
            </a:r>
          </a:p>
          <a:p>
            <a:pPr>
              <a:lnSpc>
                <a:spcPct val="115000"/>
              </a:lnSpc>
              <a:spcBef>
                <a:spcPts val="1000"/>
              </a:spcBef>
              <a:defRPr sz="1100">
                <a:solidFill>
                  <a:srgbClr val="2B2421"/>
                </a:solidFill>
                <a:latin typeface="Malgun Gothic"/>
              </a:defRPr>
            </a:pPr>
            <a:r>
              <a:t>▶ Step 3 (Fine Approach 미세 접근)</a:t>
            </a:r>
            <a:br/>
            <a:r>
              <a:t>   : 초음파 센서 노드(/us_sensor/range) 값을 활용하여 최종 목표물 ≤ 0.10m 앞까지 초저속 정밀 전진 (fruit_final_approach.py)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[Trouble 1] 센서 데이터 미발행 및 파라미터 불일치</a:t>
            </a:r>
          </a:p>
          <a:p>
            <a:pPr>
              <a:spcBef>
                <a:spcPts val="400"/>
              </a:spcBef>
              <a:defRPr sz="1300">
                <a:solidFill>
                  <a:srgbClr val="6E625D"/>
                </a:solidFill>
                <a:latin typeface="Malgun Gothic"/>
              </a:defRPr>
            </a:pPr>
            <a:r>
              <a:t>실제 로봇 구동 환경에서 발생한 초음파 노드 부재 및 목표 반경 정합 실패 트러블슈팅</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029200" cy="3931920"/>
          </a:xfrm>
          <a:prstGeom prst="roundRect">
            <a:avLst/>
          </a:prstGeom>
          <a:solidFill>
            <a:srgbClr val="FFFFFF"/>
          </a:solidFill>
          <a:ln w="1905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200"/>
              </a:spcAft>
              <a:defRPr sz="1600" b="1">
                <a:solidFill>
                  <a:srgbClr val="DF5D44"/>
                </a:solidFill>
                <a:latin typeface="Malgun Gothic"/>
              </a:defRPr>
            </a:pPr>
            <a:r>
              <a:t>이슈 ①: 초음파 데이터 무응답 현상</a:t>
            </a:r>
          </a:p>
          <a:p>
            <a:pPr>
              <a:lnSpc>
                <a:spcPct val="115000"/>
              </a:lnSpc>
              <a:spcBef>
                <a:spcPts val="800"/>
              </a:spcBef>
              <a:defRPr sz="1100">
                <a:solidFill>
                  <a:srgbClr val="2B2421"/>
                </a:solidFill>
                <a:latin typeface="Malgun Gothic"/>
              </a:defRPr>
            </a:pPr>
            <a:r>
              <a:t>• </a:t>
            </a:r>
            <a:r>
              <a:rPr b="1">
                <a:solidFill>
                  <a:srgbClr val="DF5D44"/>
                </a:solidFill>
              </a:rPr>
              <a:t>증상:</a:t>
            </a:r>
            <a:r>
              <a:t> 미세 접근 구동 시 'Waiting for ultrasonic' 상태 메시지만 20초간 지속 후 무반응 및 타임아웃 발생</a:t>
            </a:r>
          </a:p>
          <a:p>
            <a:pPr>
              <a:lnSpc>
                <a:spcPct val="115000"/>
              </a:lnSpc>
              <a:spcBef>
                <a:spcPts val="800"/>
              </a:spcBef>
              <a:defRPr sz="1100">
                <a:solidFill>
                  <a:srgbClr val="2B2421"/>
                </a:solidFill>
                <a:latin typeface="Malgun Gothic"/>
              </a:defRPr>
            </a:pPr>
            <a:r>
              <a:t>• </a:t>
            </a:r>
            <a:r>
              <a:rPr b="1">
                <a:solidFill>
                  <a:srgbClr val="DF5D44"/>
                </a:solidFill>
              </a:rPr>
              <a:t>원인 분석:</a:t>
            </a:r>
            <a:r>
              <a:t> launch XML 파일 기동 시 초음파 ADC 노드(pinky_sensor_adc)가 누락됨. ROS2 토픽 이름(/us_sensor/range)은 보였으나 실제 Publisher 노드가 없어 echo 데이터가 무응답 상태에 빠짐</a:t>
            </a:r>
          </a:p>
          <a:p>
            <a:pPr>
              <a:lnSpc>
                <a:spcPct val="115000"/>
              </a:lnSpc>
              <a:spcBef>
                <a:spcPts val="800"/>
              </a:spcBef>
              <a:defRPr sz="1100">
                <a:solidFill>
                  <a:srgbClr val="2B2421"/>
                </a:solidFill>
                <a:latin typeface="Malgun Gothic"/>
              </a:defRPr>
            </a:pPr>
            <a:r>
              <a:t>• </a:t>
            </a:r>
            <a:r>
              <a:rPr b="1">
                <a:solidFill>
                  <a:srgbClr val="DF5D44"/>
                </a:solidFill>
              </a:rPr>
              <a:t>해결 대책:</a:t>
            </a:r>
            <a:r>
              <a:t> ADC 노드 가동 명령어 (ros2 run pinky_sensor_adc main_node)를 로봇 실행 절차(5터미널 가이드)에 명시하고, UI 상에 초음파 수치를 모니터링할 수 있도록 관제 화면 보완</a:t>
            </a:r>
          </a:p>
        </p:txBody>
      </p:sp>
      <p:sp>
        <p:nvSpPr>
          <p:cNvPr id="5" name="Rounded Rectangle 4"/>
          <p:cNvSpPr/>
          <p:nvPr/>
        </p:nvSpPr>
        <p:spPr>
          <a:xfrm>
            <a:off x="6126480" y="1645920"/>
            <a:ext cx="5303520" cy="3931920"/>
          </a:xfrm>
          <a:prstGeom prst="roundRect">
            <a:avLst/>
          </a:prstGeom>
          <a:solidFill>
            <a:srgbClr val="FFFFFF"/>
          </a:solidFill>
          <a:ln w="19050">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200"/>
              </a:spcAft>
              <a:defRPr sz="1600" b="1">
                <a:solidFill>
                  <a:srgbClr val="3589D6"/>
                </a:solidFill>
                <a:latin typeface="Malgun Gothic"/>
              </a:defRPr>
            </a:pPr>
            <a:r>
              <a:t>이슈 ②: 도착 반경 차이에 따른 데드락</a:t>
            </a:r>
          </a:p>
          <a:p>
            <a:pPr>
              <a:lnSpc>
                <a:spcPct val="115000"/>
              </a:lnSpc>
              <a:spcBef>
                <a:spcPts val="800"/>
              </a:spcBef>
              <a:defRPr sz="1100">
                <a:solidFill>
                  <a:srgbClr val="2B2421"/>
                </a:solidFill>
                <a:latin typeface="Malgun Gothic"/>
              </a:defRPr>
            </a:pPr>
            <a:r>
              <a:t>• </a:t>
            </a:r>
            <a:r>
              <a:rPr b="1">
                <a:solidFill>
                  <a:srgbClr val="3589D6"/>
                </a:solidFill>
              </a:rPr>
              <a:t>증상:</a:t>
            </a:r>
            <a:r>
              <a:t> 로봇이 주행 목표 좌표 근처에 도달했음에도, 시퀀스 상태 머신 상 다음 단계로 넘어가지 않고 대기하는 데드락 현상</a:t>
            </a:r>
          </a:p>
          <a:p>
            <a:pPr>
              <a:lnSpc>
                <a:spcPct val="115000"/>
              </a:lnSpc>
              <a:spcBef>
                <a:spcPts val="800"/>
              </a:spcBef>
              <a:defRPr sz="1100">
                <a:solidFill>
                  <a:srgbClr val="2B2421"/>
                </a:solidFill>
                <a:latin typeface="Malgun Gothic"/>
              </a:defRPr>
            </a:pPr>
            <a:r>
              <a:t>• </a:t>
            </a:r>
            <a:r>
              <a:rPr b="1">
                <a:solidFill>
                  <a:srgbClr val="3589D6"/>
                </a:solidFill>
              </a:rPr>
              <a:t>원인 분석:</a:t>
            </a:r>
            <a:r>
              <a:t> 브리지에서 판단하는 HTTP 폴링 도착 판단 기준(arrival_threshold</a:t>
            </a:r>
          </a:p>
          <a:p>
            <a:pPr>
              <a:lnSpc>
                <a:spcPct val="115000"/>
              </a:lnSpc>
              <a:spcBef>
                <a:spcPts val="800"/>
              </a:spcBef>
              <a:defRPr sz="1100">
                <a:solidFill>
                  <a:srgbClr val="2B2421"/>
                </a:solidFill>
                <a:latin typeface="Malgun Gothic"/>
              </a:defRPr>
            </a:pPr>
            <a:r>
              <a:t>• </a:t>
            </a:r>
            <a:r>
              <a:rPr b="1">
                <a:solidFill>
                  <a:srgbClr val="3589D6"/>
                </a:solidFill>
              </a:rPr>
              <a:t>해결 대책:</a:t>
            </a:r>
            <a:r>
              <a:t> arrival_threshold &gt;= xy_goal_tolerance 가 정합을 이루도록 설정(예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[Trouble 2] /cmd_vel 다중 Publisher 명령 경쟁</a:t>
            </a:r>
          </a:p>
          <a:p>
            <a:pPr>
              <a:spcBef>
                <a:spcPts val="400"/>
              </a:spcBef>
              <a:defRPr sz="1300">
                <a:solidFill>
                  <a:srgbClr val="6E625D"/>
                </a:solidFill>
                <a:latin typeface="Malgun Gothic"/>
              </a:defRPr>
            </a:pPr>
            <a:r>
              <a:t>7개 이상의 노드가 동시에 최종 토픽인 /cmd_vel을 구독/발행하여 발생하는 조종 권한 경쟁 이슈</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4846320" cy="3566160"/>
          </a:xfrm>
          <a:prstGeom prst="roundRect">
            <a:avLst/>
          </a:prstGeom>
          <a:solidFill>
            <a:srgbClr val="F5F0E8"/>
          </a:solidFill>
          <a:ln w="1905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800"/>
              </a:spcAft>
              <a:defRPr sz="1500" b="1">
                <a:solidFill>
                  <a:srgbClr val="DF5D44"/>
                </a:solidFill>
                <a:latin typeface="Malgun Gothic"/>
              </a:defRPr>
            </a:pPr>
            <a:r>
              <a:t>개선 전: 다중 Publisher 충돌 (Race Condition)</a:t>
            </a:r>
          </a:p>
          <a:p>
            <a:pPr>
              <a:lnSpc>
                <a:spcPct val="115000"/>
              </a:lnSpc>
              <a:spcBef>
                <a:spcPts val="600"/>
              </a:spcBef>
              <a:defRPr sz="1100">
                <a:solidFill>
                  <a:srgbClr val="2B2421"/>
                </a:solidFill>
                <a:latin typeface="Malgun Gothic"/>
              </a:defRPr>
            </a:pPr>
            <a:r>
              <a:t>• 상황: 미세 접근 구동 중 전진 명령을 내릴 때, 로봇이 전진하지 못하고 제자리를 맴돌거나 뚝뚝 끊기며 회전만 반복</a:t>
            </a:r>
          </a:p>
          <a:p>
            <a:pPr>
              <a:lnSpc>
                <a:spcPct val="115000"/>
              </a:lnSpc>
              <a:spcBef>
                <a:spcPts val="600"/>
              </a:spcBef>
              <a:defRPr sz="1100">
                <a:solidFill>
                  <a:srgbClr val="2B2421"/>
                </a:solidFill>
                <a:latin typeface="Malgun Gothic"/>
              </a:defRPr>
            </a:pPr>
            <a:r>
              <a:t>• 원인: robot_bridge, velocity_smoother, behavior_server 등 총 7개의 ROS2 노드가 최종 모터 구동 토픽인 '/cmd_vel'에 직접 속도 명령을 동시 발행함</a:t>
            </a:r>
          </a:p>
          <a:p>
            <a:pPr>
              <a:lnSpc>
                <a:spcPct val="115000"/>
              </a:lnSpc>
              <a:spcBef>
                <a:spcPts val="600"/>
              </a:spcBef>
              <a:defRPr sz="1100">
                <a:solidFill>
                  <a:srgbClr val="2B2421"/>
                </a:solidFill>
                <a:latin typeface="Malgun Gothic"/>
              </a:defRPr>
            </a:pPr>
            <a:r>
              <a:t>• 결과: Nav2 controller 등의 0(정지) 명령이 정교한 미세 제어 명령을 주기적으로 덮어씌우는 의도하지 않은 토픽 경쟁 발생</a:t>
            </a:r>
          </a:p>
        </p:txBody>
      </p:sp>
      <p:sp>
        <p:nvSpPr>
          <p:cNvPr id="5" name="Rounded Rectangle 4"/>
          <p:cNvSpPr/>
          <p:nvPr/>
        </p:nvSpPr>
        <p:spPr>
          <a:xfrm>
            <a:off x="6126480" y="1645920"/>
            <a:ext cx="5303520" cy="3566160"/>
          </a:xfrm>
          <a:prstGeom prst="roundRect">
            <a:avLst/>
          </a:prstGeom>
          <a:solidFill>
            <a:srgbClr val="F5F0E8"/>
          </a:solidFill>
          <a:ln w="19050">
            <a:solidFill>
              <a:srgbClr val="2BA66E"/>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800"/>
              </a:spcAft>
              <a:defRPr sz="1500" b="1">
                <a:solidFill>
                  <a:srgbClr val="2BA66E"/>
                </a:solidFill>
                <a:latin typeface="Malgun Gothic"/>
              </a:defRPr>
            </a:pPr>
            <a:r>
              <a:t>개선 후: Nav2 파이프라인 상류 재배치 설계</a:t>
            </a:r>
          </a:p>
          <a:p>
            <a:pPr>
              <a:lnSpc>
                <a:spcPct val="115000"/>
              </a:lnSpc>
              <a:spcBef>
                <a:spcPts val="600"/>
              </a:spcBef>
              <a:defRPr sz="1100">
                <a:solidFill>
                  <a:srgbClr val="2B2421"/>
                </a:solidFill>
                <a:latin typeface="Malgun Gothic"/>
              </a:defRPr>
            </a:pPr>
            <a:r>
              <a:t>• 해결: fine approach(정밀 접근)의 publish 타겟 토픽을 '/cmd_vel'에서 상류 관문인 '/cmd_vel_nav'로 재배치</a:t>
            </a:r>
          </a:p>
          <a:p>
            <a:pPr>
              <a:lnSpc>
                <a:spcPct val="115000"/>
              </a:lnSpc>
              <a:spcBef>
                <a:spcPts val="600"/>
              </a:spcBef>
              <a:defRPr sz="1100">
                <a:solidFill>
                  <a:srgbClr val="2B2421"/>
                </a:solidFill>
                <a:latin typeface="Malgun Gothic"/>
              </a:defRPr>
            </a:pPr>
            <a:r>
              <a:t>• 개선 흐름:</a:t>
            </a:r>
            <a:br/>
            <a:r>
              <a:t>robot_bridge → /cmd_vel_nav → velocity_smoother → /cmd_vel → 모터</a:t>
            </a:r>
          </a:p>
          <a:p>
            <a:pPr>
              <a:lnSpc>
                <a:spcPct val="115000"/>
              </a:lnSpc>
              <a:spcBef>
                <a:spcPts val="600"/>
              </a:spcBef>
              <a:defRPr sz="1100">
                <a:solidFill>
                  <a:srgbClr val="2B2421"/>
                </a:solidFill>
                <a:latin typeface="Malgun Gothic"/>
              </a:defRPr>
            </a:pPr>
            <a:r>
              <a:t>• 효과: Nav2 주행 목표가 취소된 idle 상태에서 브리지의 미세 접근 명령이 스무더 파이프라인을 경유하여 안전하게 전달되고 명령 경쟁이 완전히 완화됨</a:t>
            </a:r>
          </a:p>
        </p:txBody>
      </p:sp>
      <p:sp>
        <p:nvSpPr>
          <p:cNvPr id="6" name="TextBox 5"/>
          <p:cNvSpPr txBox="1"/>
          <p:nvPr/>
        </p:nvSpPr>
        <p:spPr>
          <a:xfrm>
            <a:off x="731520" y="5303520"/>
            <a:ext cx="10698480" cy="731520"/>
          </a:xfrm>
          <a:prstGeom prst="rect">
            <a:avLst/>
          </a:prstGeom>
          <a:noFill/>
        </p:spPr>
        <p:txBody>
          <a:bodyPr wrap="square" tIns="0" bIns="0" lIns="0" rIns="0">
            <a:spAutoFit/>
          </a:bodyPr>
          <a:lstStyle/>
          <a:p>
            <a:pPr>
              <a:lnSpc>
                <a:spcPct val="115000"/>
              </a:lnSpc>
              <a:defRPr sz="1150" b="1">
                <a:solidFill>
                  <a:srgbClr val="6E625D"/>
                </a:solidFill>
                <a:latin typeface="Malgun Gothic"/>
              </a:defRPr>
            </a:pPr>
            <a:r>
              <a:t>★ 핵심 교훈: ROS2의 강점인 토픽 분산 구조에서도, 속도 제어와 같은 물리 구동 토픽에 다수의 Publisher가 붙으면 치명적인 이상 거동이 발생합니다. 미세 제어 명령은 임의의 다이렉트 출력이 아닌, 기존 주행 스무더 레이어의 입력단에 합류시키는 구조가 안전합니다.</a:t>
            </a:r>
          </a:p>
        </p:txBody>
      </p:sp>
    </p:spTree>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cfaf6"/>
        </a:solidFill>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멀티로봇 시퀀스: 주문부터 완료까지</a:t>
            </a:r>
          </a:p>
          <a:p>
            <a:pPr>
              <a:spcBef>
                <a:spcPts val="400"/>
              </a:spcBef>
              <a:defRPr sz="1300">
                <a:solidFill>
                  <a:srgbClr val="6E625D"/>
                </a:solidFill>
                <a:latin typeface="Malgun Gothic"/>
              </a:defRPr>
            </a:pPr>
            <a:r>
              <a:t>RecipeOrchestrator가 각 로봇 브리지에 명령 큐를 발행하고, 교환소 도착 동기화를 처리하는 라이프사이클 흐름</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2194560" cy="365760"/>
          </a:xfrm>
          <a:prstGeom prst="roundRect">
            <a:avLst/>
          </a:prstGeom>
          <a:solidFill>
            <a:srgbClr val="6E625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Malgun Gothic"/>
              </a:defRPr>
            </a:pPr>
            <a:r>
              <a:t>Kitchen UI / PC</a:t>
            </a:r>
          </a:p>
        </p:txBody>
      </p:sp>
      <p:sp>
        <p:nvSpPr>
          <p:cNvPr id="6" name="Rectangle 5"/>
          <p:cNvSpPr/>
          <p:nvPr/>
        </p:nvSpPr>
        <p:spPr>
          <a:xfrm>
            <a:off x="1633220" y="2194560"/>
            <a:ext cx="25400" cy="4114800"/>
          </a:xfrm>
          <a:prstGeom prst="rect">
            <a:avLst/>
          </a:prstGeom>
          <a:solidFill>
            <a:srgbClr val="6E62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83280" y="1828800"/>
            <a:ext cx="2194560" cy="365760"/>
          </a:xfrm>
          <a:prstGeom prst="roundRect">
            <a:avLst/>
          </a:prstGeom>
          <a:solidFill>
            <a:srgbClr val="2BA6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Malgun Gothic"/>
              </a:defRPr>
            </a:pPr>
            <a:r>
              <a:t>RecipeOrchestrator</a:t>
            </a:r>
          </a:p>
        </p:txBody>
      </p:sp>
      <p:sp>
        <p:nvSpPr>
          <p:cNvPr id="8" name="Rectangle 7"/>
          <p:cNvSpPr/>
          <p:nvPr/>
        </p:nvSpPr>
        <p:spPr>
          <a:xfrm>
            <a:off x="4467860" y="2194560"/>
            <a:ext cx="25400" cy="4114800"/>
          </a:xfrm>
          <a:prstGeom prst="rect">
            <a:avLst/>
          </a:prstGeom>
          <a:solidFill>
            <a:srgbClr val="6E62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28800"/>
            <a:ext cx="2194560" cy="365760"/>
          </a:xfrm>
          <a:prstGeom prst="round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Malgun Gothic"/>
              </a:defRPr>
            </a:pPr>
            <a:r>
              <a:t>Robot A (Supplier)</a:t>
            </a:r>
          </a:p>
        </p:txBody>
      </p:sp>
      <p:sp>
        <p:nvSpPr>
          <p:cNvPr id="10" name="Rectangle 9"/>
          <p:cNvSpPr/>
          <p:nvPr/>
        </p:nvSpPr>
        <p:spPr>
          <a:xfrm>
            <a:off x="7302500" y="2194560"/>
            <a:ext cx="25400" cy="4114800"/>
          </a:xfrm>
          <a:prstGeom prst="rect">
            <a:avLst/>
          </a:prstGeom>
          <a:solidFill>
            <a:srgbClr val="6E62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52560" y="1828800"/>
            <a:ext cx="2194560" cy="365760"/>
          </a:xfrm>
          <a:prstGeom prst="roundRect">
            <a:avLst/>
          </a:prstGeom>
          <a:solidFill>
            <a:srgbClr val="3589D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Malgun Gothic"/>
              </a:defRPr>
            </a:pPr>
            <a:r>
              <a:t>Robot B (Server)</a:t>
            </a:r>
          </a:p>
        </p:txBody>
      </p:sp>
      <p:sp>
        <p:nvSpPr>
          <p:cNvPr id="12" name="Rectangle 11"/>
          <p:cNvSpPr/>
          <p:nvPr/>
        </p:nvSpPr>
        <p:spPr>
          <a:xfrm>
            <a:off x="10137140" y="2194560"/>
            <a:ext cx="25400" cy="4114800"/>
          </a:xfrm>
          <a:prstGeom prst="rect">
            <a:avLst/>
          </a:prstGeom>
          <a:solidFill>
            <a:srgbClr val="6E62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1645920" y="2446020"/>
            <a:ext cx="2743200" cy="45720"/>
          </a:xfrm>
          <a:prstGeom prst="rightArrow">
            <a:avLst/>
          </a:prstGeom>
          <a:solidFill>
            <a:srgbClr val="2B2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2148840"/>
            <a:ext cx="2468880" cy="274320"/>
          </a:xfrm>
          <a:prstGeom prst="rect">
            <a:avLst/>
          </a:prstGeom>
          <a:noFill/>
        </p:spPr>
        <p:txBody>
          <a:bodyPr wrap="square">
            <a:spAutoFit/>
          </a:bodyPr>
          <a:lstStyle/>
          <a:p>
            <a:pPr algn="ctr">
              <a:defRPr sz="950" b="1">
                <a:solidFill>
                  <a:srgbClr val="2B2421"/>
                </a:solidFill>
                <a:latin typeface="Malgun Gothic"/>
              </a:defRPr>
            </a:pPr>
            <a:r>
              <a:t>1. 요리 주문 (apple_pie)</a:t>
            </a:r>
          </a:p>
        </p:txBody>
      </p:sp>
      <p:sp>
        <p:nvSpPr>
          <p:cNvPr id="15" name="Right Arrow 14"/>
          <p:cNvSpPr/>
          <p:nvPr/>
        </p:nvSpPr>
        <p:spPr>
          <a:xfrm>
            <a:off x="4480560" y="2811780"/>
            <a:ext cx="2743200" cy="45720"/>
          </a:xfrm>
          <a:prstGeom prst="rightArrow">
            <a:avLst/>
          </a:prstGeom>
          <a:solidFill>
            <a:srgbClr val="2B2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514600"/>
            <a:ext cx="2468880" cy="274320"/>
          </a:xfrm>
          <a:prstGeom prst="rect">
            <a:avLst/>
          </a:prstGeom>
          <a:noFill/>
        </p:spPr>
        <p:txBody>
          <a:bodyPr wrap="square">
            <a:spAutoFit/>
          </a:bodyPr>
          <a:lstStyle/>
          <a:p>
            <a:pPr algn="ctr">
              <a:defRPr sz="950" b="1">
                <a:solidFill>
                  <a:srgbClr val="2B2421"/>
                </a:solidFill>
                <a:latin typeface="Malgun Gothic"/>
              </a:defRPr>
            </a:pPr>
            <a:r>
              <a:t>2. queue_add(fruit: apple)</a:t>
            </a:r>
          </a:p>
        </p:txBody>
      </p:sp>
      <p:sp>
        <p:nvSpPr>
          <p:cNvPr id="17" name="Left Arrow 16"/>
          <p:cNvSpPr/>
          <p:nvPr/>
        </p:nvSpPr>
        <p:spPr>
          <a:xfrm>
            <a:off x="4572000" y="3086100"/>
            <a:ext cx="2743200" cy="45720"/>
          </a:xfrm>
          <a:prstGeom prst="leftArrow">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2788920"/>
            <a:ext cx="2468880" cy="274320"/>
          </a:xfrm>
          <a:prstGeom prst="rect">
            <a:avLst/>
          </a:prstGeom>
          <a:noFill/>
        </p:spPr>
        <p:txBody>
          <a:bodyPr wrap="square">
            <a:spAutoFit/>
          </a:bodyPr>
          <a:lstStyle/>
          <a:p>
            <a:pPr algn="ctr">
              <a:defRPr sz="950" b="0">
                <a:solidFill>
                  <a:srgbClr val="DF5D44"/>
                </a:solidFill>
                <a:latin typeface="Malgun Gothic"/>
              </a:defRPr>
            </a:pPr>
            <a:r>
              <a:t>3. completed</a:t>
            </a:r>
          </a:p>
        </p:txBody>
      </p:sp>
      <p:sp>
        <p:nvSpPr>
          <p:cNvPr id="19" name="Right Arrow 18"/>
          <p:cNvSpPr/>
          <p:nvPr/>
        </p:nvSpPr>
        <p:spPr>
          <a:xfrm>
            <a:off x="4480560" y="3360420"/>
            <a:ext cx="2743200" cy="45720"/>
          </a:xfrm>
          <a:prstGeom prst="rightArrow">
            <a:avLst/>
          </a:prstGeom>
          <a:solidFill>
            <a:srgbClr val="2B2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3063240"/>
            <a:ext cx="2468880" cy="274320"/>
          </a:xfrm>
          <a:prstGeom prst="rect">
            <a:avLst/>
          </a:prstGeom>
          <a:noFill/>
        </p:spPr>
        <p:txBody>
          <a:bodyPr wrap="square">
            <a:spAutoFit/>
          </a:bodyPr>
          <a:lstStyle/>
          <a:p>
            <a:pPr algn="ctr">
              <a:defRPr sz="950" b="1">
                <a:solidFill>
                  <a:srgbClr val="2B2421"/>
                </a:solidFill>
                <a:latin typeface="Malgun Gothic"/>
              </a:defRPr>
            </a:pPr>
            <a:r>
              <a:t>4. queue_add(pose: exchange_A)</a:t>
            </a:r>
          </a:p>
        </p:txBody>
      </p:sp>
      <p:sp>
        <p:nvSpPr>
          <p:cNvPr id="21" name="Right Arrow 20"/>
          <p:cNvSpPr/>
          <p:nvPr/>
        </p:nvSpPr>
        <p:spPr>
          <a:xfrm>
            <a:off x="4480560" y="3634740"/>
            <a:ext cx="5577840" cy="45720"/>
          </a:xfrm>
          <a:prstGeom prst="rightArrow">
            <a:avLst/>
          </a:prstGeom>
          <a:solidFill>
            <a:srgbClr val="2B2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3337560"/>
            <a:ext cx="5303520" cy="274320"/>
          </a:xfrm>
          <a:prstGeom prst="rect">
            <a:avLst/>
          </a:prstGeom>
          <a:noFill/>
        </p:spPr>
        <p:txBody>
          <a:bodyPr wrap="square">
            <a:spAutoFit/>
          </a:bodyPr>
          <a:lstStyle/>
          <a:p>
            <a:pPr algn="ctr">
              <a:defRPr sz="950" b="1">
                <a:solidFill>
                  <a:srgbClr val="2B2421"/>
                </a:solidFill>
                <a:latin typeface="Malgun Gothic"/>
              </a:defRPr>
            </a:pPr>
            <a:r>
              <a:t>5. queue_add(pose: exchange_B) [병렬]</a:t>
            </a:r>
          </a:p>
        </p:txBody>
      </p:sp>
      <p:sp>
        <p:nvSpPr>
          <p:cNvPr id="23" name="Left Arrow 22"/>
          <p:cNvSpPr/>
          <p:nvPr/>
        </p:nvSpPr>
        <p:spPr>
          <a:xfrm>
            <a:off x="4572000" y="3909060"/>
            <a:ext cx="2743200" cy="45720"/>
          </a:xfrm>
          <a:prstGeom prst="leftArrow">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3611880"/>
            <a:ext cx="2468880" cy="274320"/>
          </a:xfrm>
          <a:prstGeom prst="rect">
            <a:avLst/>
          </a:prstGeom>
          <a:noFill/>
        </p:spPr>
        <p:txBody>
          <a:bodyPr wrap="square">
            <a:spAutoFit/>
          </a:bodyPr>
          <a:lstStyle/>
          <a:p>
            <a:pPr algn="ctr">
              <a:defRPr sz="950" b="0">
                <a:solidFill>
                  <a:srgbClr val="DF5D44"/>
                </a:solidFill>
                <a:latin typeface="Malgun Gothic"/>
              </a:defRPr>
            </a:pPr>
            <a:r>
              <a:t>6. completed</a:t>
            </a:r>
          </a:p>
        </p:txBody>
      </p:sp>
      <p:sp>
        <p:nvSpPr>
          <p:cNvPr id="25" name="Left Arrow 24"/>
          <p:cNvSpPr/>
          <p:nvPr/>
        </p:nvSpPr>
        <p:spPr>
          <a:xfrm>
            <a:off x="4572000" y="4183380"/>
            <a:ext cx="5577840" cy="45720"/>
          </a:xfrm>
          <a:prstGeom prst="leftArrow">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3886200"/>
            <a:ext cx="5303520" cy="274320"/>
          </a:xfrm>
          <a:prstGeom prst="rect">
            <a:avLst/>
          </a:prstGeom>
          <a:noFill/>
        </p:spPr>
        <p:txBody>
          <a:bodyPr wrap="square">
            <a:spAutoFit/>
          </a:bodyPr>
          <a:lstStyle/>
          <a:p>
            <a:pPr algn="ctr">
              <a:defRPr sz="950" b="0">
                <a:solidFill>
                  <a:srgbClr val="DF5D44"/>
                </a:solidFill>
                <a:latin typeface="Malgun Gothic"/>
              </a:defRPr>
            </a:pPr>
            <a:r>
              <a:t>7. completed</a:t>
            </a:r>
          </a:p>
        </p:txBody>
      </p:sp>
      <p:sp>
        <p:nvSpPr>
          <p:cNvPr id="27" name="Right Arrow 26"/>
          <p:cNvSpPr/>
          <p:nvPr/>
        </p:nvSpPr>
        <p:spPr>
          <a:xfrm>
            <a:off x="4480560" y="4914900"/>
            <a:ext cx="5577840" cy="45720"/>
          </a:xfrm>
          <a:prstGeom prst="rightArrow">
            <a:avLst/>
          </a:prstGeom>
          <a:solidFill>
            <a:srgbClr val="2B2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4617720"/>
            <a:ext cx="5303520" cy="274320"/>
          </a:xfrm>
          <a:prstGeom prst="rect">
            <a:avLst/>
          </a:prstGeom>
          <a:noFill/>
        </p:spPr>
        <p:txBody>
          <a:bodyPr wrap="square">
            <a:spAutoFit/>
          </a:bodyPr>
          <a:lstStyle/>
          <a:p>
            <a:pPr algn="ctr">
              <a:defRPr sz="950" b="1">
                <a:solidFill>
                  <a:srgbClr val="2B2421"/>
                </a:solidFill>
                <a:latin typeface="Malgun Gothic"/>
              </a:defRPr>
            </a:pPr>
            <a:r>
              <a:t>8. both_arrived 동기화 → queue_add(fruit: apple_pie)</a:t>
            </a:r>
          </a:p>
        </p:txBody>
      </p:sp>
      <p:sp>
        <p:nvSpPr>
          <p:cNvPr id="29" name="Left Arrow 28"/>
          <p:cNvSpPr/>
          <p:nvPr/>
        </p:nvSpPr>
        <p:spPr>
          <a:xfrm>
            <a:off x="4572000" y="5189220"/>
            <a:ext cx="5577840" cy="45720"/>
          </a:xfrm>
          <a:prstGeom prst="leftArrow">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3440" y="4892040"/>
            <a:ext cx="5303520" cy="274320"/>
          </a:xfrm>
          <a:prstGeom prst="rect">
            <a:avLst/>
          </a:prstGeom>
          <a:noFill/>
        </p:spPr>
        <p:txBody>
          <a:bodyPr wrap="square">
            <a:spAutoFit/>
          </a:bodyPr>
          <a:lstStyle/>
          <a:p>
            <a:pPr algn="ctr">
              <a:defRPr sz="950" b="0">
                <a:solidFill>
                  <a:srgbClr val="DF5D44"/>
                </a:solidFill>
                <a:latin typeface="Malgun Gothic"/>
              </a:defRPr>
            </a:pPr>
            <a:r>
              <a:t>9. completed</a:t>
            </a:r>
          </a:p>
        </p:txBody>
      </p:sp>
      <p:sp>
        <p:nvSpPr>
          <p:cNvPr id="31" name="Right Arrow 30"/>
          <p:cNvSpPr/>
          <p:nvPr/>
        </p:nvSpPr>
        <p:spPr>
          <a:xfrm>
            <a:off x="4480560" y="5463540"/>
            <a:ext cx="5577840" cy="45720"/>
          </a:xfrm>
          <a:prstGeom prst="rightArrow">
            <a:avLst/>
          </a:prstGeom>
          <a:solidFill>
            <a:srgbClr val="2B2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0" y="5166360"/>
            <a:ext cx="5303520" cy="274320"/>
          </a:xfrm>
          <a:prstGeom prst="rect">
            <a:avLst/>
          </a:prstGeom>
          <a:noFill/>
        </p:spPr>
        <p:txBody>
          <a:bodyPr wrap="square">
            <a:spAutoFit/>
          </a:bodyPr>
          <a:lstStyle/>
          <a:p>
            <a:pPr algn="ctr">
              <a:defRPr sz="950" b="1">
                <a:solidFill>
                  <a:srgbClr val="2B2421"/>
                </a:solidFill>
                <a:latin typeface="Malgun Gothic"/>
              </a:defRPr>
            </a:pPr>
            <a:r>
              <a:t>10. queue_add(fruit: bell) → 서빙 완료</a:t>
            </a:r>
          </a:p>
        </p:txBody>
      </p:sp>
      <p:sp>
        <p:nvSpPr>
          <p:cNvPr id="33" name="Left Arrow 32"/>
          <p:cNvSpPr/>
          <p:nvPr/>
        </p:nvSpPr>
        <p:spPr>
          <a:xfrm>
            <a:off x="4572000" y="5737860"/>
            <a:ext cx="5577840" cy="45720"/>
          </a:xfrm>
          <a:prstGeom prst="leftArrow">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5440680"/>
            <a:ext cx="5303520" cy="274320"/>
          </a:xfrm>
          <a:prstGeom prst="rect">
            <a:avLst/>
          </a:prstGeom>
          <a:noFill/>
        </p:spPr>
        <p:txBody>
          <a:bodyPr wrap="square">
            <a:spAutoFit/>
          </a:bodyPr>
          <a:lstStyle/>
          <a:p>
            <a:pPr algn="ctr">
              <a:defRPr sz="950" b="0">
                <a:solidFill>
                  <a:srgbClr val="DF5D44"/>
                </a:solidFill>
                <a:latin typeface="Malgun Gothic"/>
              </a:defRPr>
            </a:pPr>
            <a:r>
              <a:t>11. completed</a:t>
            </a:r>
          </a:p>
        </p:txBody>
      </p:sp>
      <p:sp>
        <p:nvSpPr>
          <p:cNvPr id="35" name="Left Arrow 34"/>
          <p:cNvSpPr/>
          <p:nvPr/>
        </p:nvSpPr>
        <p:spPr>
          <a:xfrm>
            <a:off x="1737360" y="6012180"/>
            <a:ext cx="2743200" cy="45720"/>
          </a:xfrm>
          <a:prstGeom prst="leftArrow">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28800" y="5715000"/>
            <a:ext cx="2468880" cy="274320"/>
          </a:xfrm>
          <a:prstGeom prst="rect">
            <a:avLst/>
          </a:prstGeom>
          <a:noFill/>
        </p:spPr>
        <p:txBody>
          <a:bodyPr wrap="square">
            <a:spAutoFit/>
          </a:bodyPr>
          <a:lstStyle/>
          <a:p>
            <a:pPr algn="ctr">
              <a:defRPr sz="950" b="0">
                <a:solidFill>
                  <a:srgbClr val="DF5D44"/>
                </a:solidFill>
                <a:latin typeface="Malgun Gothic"/>
              </a:defRPr>
            </a:pPr>
            <a:r>
              <a:t>12. 주문 성공 알림 (order_completed)</a:t>
            </a:r>
          </a:p>
        </p:txBody>
      </p:sp>
      <p:sp>
        <p:nvSpPr>
          <p:cNvPr id="37" name="Rounded Rectangle 36"/>
          <p:cNvSpPr/>
          <p:nvPr/>
        </p:nvSpPr>
        <p:spPr>
          <a:xfrm>
            <a:off x="3474720" y="4434840"/>
            <a:ext cx="2011680" cy="320040"/>
          </a:xfrm>
          <a:prstGeom prst="roundRect">
            <a:avLst/>
          </a:prstGeom>
          <a:solidFill>
            <a:srgbClr val="2BA6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Malgun Gothic"/>
              </a:defRPr>
            </a:pPr>
            <a:r>
              <a:t> WaitHandoff (양쪽 대기) </a:t>
            </a:r>
          </a:p>
        </p:txBody>
      </p:sp>
    </p:spTree>
  </p:cSld>
  <p:clrMapOvr>
    <a:masterClrMapping/>
  </p:clrMapOvr>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cfaf6"/>
        </a:solidFill>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통합 관제 웹 UI &amp; 데모 시연</a:t>
            </a:r>
          </a:p>
          <a:p>
            <a:pPr>
              <a:spcBef>
                <a:spcPts val="400"/>
              </a:spcBef>
              <a:defRPr sz="1300">
                <a:solidFill>
                  <a:srgbClr val="6E625D"/>
                </a:solidFill>
                <a:latin typeface="Malgun Gothic"/>
              </a:defRPr>
            </a:pPr>
            <a:r>
              <a:t>PC 오케스트레이터의 웹 기반 통합 모니터링 화면 구성 및 주요 제어 모듈 설계</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50645"/>
            <a:ext cx="5120640" cy="1645920"/>
          </a:xfrm>
          <a:prstGeom prst="roundRect">
            <a:avLst>
              <a:gd name="adj" fmla="val 16667"/>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wrap="square" lIns="228600" tIns="182880" anchor="ctr"/>
          <a:lstStyle/>
          <a:p>
            <a:pPr lvl="0" algn="ctr">
              <a:defRPr sz="1400" b="1">
                <a:solidFill>
                  <a:srgbClr val="2b2421"/>
                </a:solidFill>
                <a:latin typeface="맑은 고딕"/>
              </a:defRPr>
            </a:pPr>
            <a:r>
              <a:rPr lang="ko-KR" altLang="en-US"/>
              <a:t>1. 주문 패널 (Order Panel)</a:t>
            </a:r>
            <a:endParaRPr lang="ko-KR" altLang="en-US"/>
          </a:p>
          <a:p>
            <a:pPr lvl="0">
              <a:lnSpc>
                <a:spcPct val="115000"/>
              </a:lnSpc>
              <a:spcBef>
                <a:spcPts val="600"/>
              </a:spcBef>
              <a:defRPr sz="1100">
                <a:solidFill>
                  <a:srgbClr val="6e625d"/>
                </a:solidFill>
                <a:latin typeface="맑은 고딕"/>
              </a:defRPr>
            </a:pPr>
            <a:r>
              <a:rPr lang="ko-KR" altLang="en-US"/>
              <a:t>요리 주문 버튼 4종 배치 (애플파이, 당근스프, 바나나푸딩, 오렌지젤리) 및 즉각적인 레시피 오케스트레이터 연동.</a:t>
            </a:r>
            <a:endParaRPr lang="ko-KR" altLang="en-US"/>
          </a:p>
        </p:txBody>
      </p:sp>
      <p:sp>
        <p:nvSpPr>
          <p:cNvPr id="5" name="Rounded Rectangle 4"/>
          <p:cNvSpPr/>
          <p:nvPr/>
        </p:nvSpPr>
        <p:spPr>
          <a:xfrm>
            <a:off x="6217920" y="1350645"/>
            <a:ext cx="5120640" cy="1645920"/>
          </a:xfrm>
          <a:prstGeom prst="roundRect">
            <a:avLst>
              <a:gd name="adj" fmla="val 16667"/>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wrap="square" lIns="228600" tIns="182880" anchor="ctr"/>
          <a:lstStyle/>
          <a:p>
            <a:pPr lvl="0" algn="ctr">
              <a:defRPr sz="1400" b="1">
                <a:solidFill>
                  <a:srgbClr val="2b2421"/>
                </a:solidFill>
                <a:latin typeface="맑은 고딕"/>
              </a:defRPr>
            </a:pPr>
            <a:r>
              <a:rPr lang="ko-KR" altLang="en-US"/>
              <a:t>2. 오케스트레이터 패널 (Orchestrator)</a:t>
            </a:r>
            <a:endParaRPr lang="ko-KR" altLang="en-US"/>
          </a:p>
          <a:p>
            <a:pPr lvl="0">
              <a:lnSpc>
                <a:spcPct val="115000"/>
              </a:lnSpc>
              <a:spcBef>
                <a:spcPts val="600"/>
              </a:spcBef>
              <a:defRPr sz="1100">
                <a:solidFill>
                  <a:srgbClr val="6e625d"/>
                </a:solidFill>
                <a:latin typeface="맑은 고딕"/>
              </a:defRPr>
            </a:pPr>
            <a:r>
              <a:rPr lang="ko-KR" altLang="en-US"/>
              <a:t>실시간 로봇 시퀀스 단계를 단계별로 출력 (SupplierGotoIngredient → WaitHandoff → ServerGotoCustomer).</a:t>
            </a:r>
            <a:endParaRPr lang="ko-KR" altLang="en-US"/>
          </a:p>
        </p:txBody>
      </p:sp>
      <p:sp>
        <p:nvSpPr>
          <p:cNvPr id="6" name="Rounded Rectangle 5"/>
          <p:cNvSpPr/>
          <p:nvPr/>
        </p:nvSpPr>
        <p:spPr>
          <a:xfrm>
            <a:off x="731520" y="3270885"/>
            <a:ext cx="5120640" cy="1645920"/>
          </a:xfrm>
          <a:prstGeom prst="roundRect">
            <a:avLst>
              <a:gd name="adj" fmla="val 16667"/>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wrap="square" lIns="228600" tIns="182880" anchor="ctr"/>
          <a:lstStyle/>
          <a:p>
            <a:pPr lvl="0" algn="ctr">
              <a:defRPr sz="1400" b="1">
                <a:solidFill>
                  <a:srgbClr val="2b2421"/>
                </a:solidFill>
                <a:latin typeface="맑은 고딕"/>
              </a:defRPr>
            </a:pPr>
            <a:r>
              <a:rPr lang="ko-KR" altLang="en-US"/>
              <a:t>3. 개별 로봇 모니터링 (Robot Tabs)</a:t>
            </a:r>
            <a:endParaRPr lang="ko-KR" altLang="en-US"/>
          </a:p>
          <a:p>
            <a:pPr lvl="0">
              <a:lnSpc>
                <a:spcPct val="115000"/>
              </a:lnSpc>
              <a:spcBef>
                <a:spcPts val="600"/>
              </a:spcBef>
              <a:defRPr sz="1100">
                <a:solidFill>
                  <a:srgbClr val="6e625d"/>
                </a:solidFill>
                <a:latin typeface="맑은 고딕"/>
              </a:defRPr>
            </a:pPr>
            <a:r>
              <a:rPr lang="ko-KR" altLang="en-US"/>
              <a:t>로봇 A/B 각각의 탭 제공: 맵 미니뷰, YOLO 실시간 추론 카메라 피드, 초음파 센서 잔여 거리 및 명령 큐 상태 표시.</a:t>
            </a:r>
            <a:endParaRPr lang="ko-KR" altLang="en-US"/>
          </a:p>
        </p:txBody>
      </p:sp>
      <p:sp>
        <p:nvSpPr>
          <p:cNvPr id="7" name="Rounded Rectangle 6"/>
          <p:cNvSpPr/>
          <p:nvPr/>
        </p:nvSpPr>
        <p:spPr>
          <a:xfrm>
            <a:off x="6217920" y="3270885"/>
            <a:ext cx="5120640" cy="1645920"/>
          </a:xfrm>
          <a:prstGeom prst="roundRect">
            <a:avLst>
              <a:gd name="adj" fmla="val 16667"/>
            </a:avLst>
          </a:prstGeom>
          <a:solidFill>
            <a:srgbClr val="ffffff"/>
          </a:solidFill>
          <a:ln>
            <a:solidFill>
              <a:srgbClr val="6e625d"/>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wrap="square" lIns="228600" tIns="182880" anchor="ctr"/>
          <a:lstStyle/>
          <a:p>
            <a:pPr lvl="0" algn="ctr">
              <a:defRPr sz="1400" b="1">
                <a:solidFill>
                  <a:srgbClr val="df5d44"/>
                </a:solidFill>
                <a:latin typeface="맑은 고딕"/>
              </a:defRPr>
            </a:pPr>
            <a:r>
              <a:rPr lang="ko-KR" altLang="en-US"/>
              <a:t>4. 긴급 제어 (Emergency Stop)</a:t>
            </a:r>
            <a:endParaRPr lang="ko-KR" altLang="en-US"/>
          </a:p>
          <a:p>
            <a:pPr lvl="0">
              <a:lnSpc>
                <a:spcPct val="115000"/>
              </a:lnSpc>
              <a:spcBef>
                <a:spcPts val="600"/>
              </a:spcBef>
              <a:defRPr sz="1100">
                <a:solidFill>
                  <a:srgbClr val="6e625d"/>
                </a:solidFill>
                <a:latin typeface="맑은 고딕"/>
              </a:defRPr>
            </a:pPr>
            <a:r>
              <a:rPr lang="ko-KR" altLang="en-US"/>
              <a:t>위급 상황 발생 시 '모든 명령 즉시 중지'를 전송하여 양쪽 로봇의 Nav2 액션과 큐 전체를 안전하게 stop_all 처리.</a:t>
            </a:r>
            <a:endParaRPr lang="ko-KR" altLang="en-US"/>
          </a:p>
        </p:txBody>
      </p:sp>
      <p:sp>
        <p:nvSpPr>
          <p:cNvPr id="8" name="Rounded Rectangle 7"/>
          <p:cNvSpPr/>
          <p:nvPr/>
        </p:nvSpPr>
        <p:spPr>
          <a:xfrm>
            <a:off x="731520" y="5074920"/>
            <a:ext cx="10607040" cy="1645920"/>
          </a:xfrm>
          <a:prstGeom prst="roundRect">
            <a:avLst>
              <a:gd name="adj" fmla="val 16667"/>
            </a:avLst>
          </a:prstGeom>
          <a:solidFill>
            <a:srgbClr val="f5f0e8"/>
          </a:solidFill>
          <a:ln w="19050">
            <a:solidFill>
              <a:srgbClr val="2ba66e"/>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wrap="square" lIns="274320" tIns="182880" anchor="ctr"/>
          <a:lstStyle/>
          <a:p>
            <a:pPr lvl="0" algn="ctr">
              <a:defRPr sz="1500" b="1">
                <a:solidFill>
                  <a:srgbClr val="2ba66e"/>
                </a:solidFill>
                <a:latin typeface="맑은 고딕"/>
              </a:defRPr>
            </a:pPr>
            <a:r>
              <a:rPr lang="ko-KR" altLang="en-US"/>
              <a:t>🎥 실제 로봇 시연 및 검증 흐름 (데모 시나리오)</a:t>
            </a:r>
            <a:endParaRPr lang="ko-KR" altLang="en-US"/>
          </a:p>
          <a:p>
            <a:pPr lvl="0">
              <a:lnSpc>
                <a:spcPct val="120000"/>
              </a:lnSpc>
              <a:spcBef>
                <a:spcPts val="600"/>
              </a:spcBef>
              <a:defRPr sz="1150">
                <a:solidFill>
                  <a:srgbClr val="2b2421"/>
                </a:solidFill>
                <a:latin typeface="맑은 고딕"/>
              </a:defRPr>
            </a:pPr>
            <a:r>
              <a:rPr lang="ko-KR" altLang="en-US"/>
              <a:t>기동 흐름: 로봇 A/B 초기 위치 설정(AMCL) → YOLO 9클래스 실시간 라벨링 검출 및 맵 상 객체 좌표 투표 확인 → 애플파이 주문 입력 → Supplier A 자율 이동 및 교환 장소 도착 → both_arrived 동기화 확인 → Server B 요리 픽업 및 최종 Serving 완료</a:t>
            </a:r>
            <a:endParaRPr lang="ko-KR" altLang="en-US"/>
          </a:p>
          <a:p>
            <a:pPr lvl="0">
              <a:lnSpc>
                <a:spcPct val="120000"/>
              </a:lnSpc>
              <a:spcBef>
                <a:spcPts val="600"/>
              </a:spcBef>
              <a:defRPr sz="1150">
                <a:solidFill>
                  <a:srgbClr val="2b2421"/>
                </a:solidFill>
                <a:latin typeface="맑은 고딕"/>
              </a:defRPr>
            </a:pPr>
            <a:endParaRPr lang="ko-KR" altLang="en-US"/>
          </a:p>
        </p:txBody>
      </p:sp>
    </p:spTree>
  </p:cSld>
  <p:clrMapOvr>
    <a:masterClrMapping/>
  </p:clrMapOvr>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cfaf6"/>
        </a:solidFill>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square" tIns="0" bIns="0" lIns="0" rIns="0">
            <a:spAutoFit/>
          </a:bodyPr>
          <a:lstStyle/>
          <a:p>
            <a:pPr>
              <a:defRPr sz="2600" b="1">
                <a:solidFill>
                  <a:srgbClr val="2B2421"/>
                </a:solidFill>
                <a:latin typeface="Malgun Gothic"/>
              </a:defRPr>
            </a:pPr>
            <a:r>
              <a:t>Key Takeaways &amp; 프로젝트 소회</a:t>
            </a:r>
          </a:p>
          <a:p>
            <a:pPr>
              <a:spcBef>
                <a:spcPts val="400"/>
              </a:spcBef>
              <a:defRPr sz="1300">
                <a:solidFill>
                  <a:srgbClr val="6E625D"/>
                </a:solidFill>
                <a:latin typeface="Malgun Gothic"/>
              </a:defRPr>
            </a:pPr>
            <a:r>
              <a:t>분산 모바일 로봇 협업 서비스 설계를 통해 얻은 분산 아키텍처 및 센서 융합 관점의 기술적 레슨</a:t>
            </a:r>
          </a:p>
        </p:txBody>
      </p:sp>
      <p:sp>
        <p:nvSpPr>
          <p:cNvPr id="3" name="Rectangle 2"/>
          <p:cNvSpPr/>
          <p:nvPr/>
        </p:nvSpPr>
        <p:spPr>
          <a:xfrm>
            <a:off x="457200" y="1188720"/>
            <a:ext cx="11277295" cy="38100"/>
          </a:xfrm>
          <a:prstGeom prst="rect">
            <a:avLst/>
          </a:prstGeom>
          <a:solidFill>
            <a:srgbClr val="DF5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1920240"/>
          </a:xfrm>
          <a:prstGeom prst="roundRect">
            <a:avLst/>
          </a:prstGeom>
          <a:solidFill>
            <a:srgbClr val="FFFFFF"/>
          </a:solidFill>
          <a:ln w="19050">
            <a:solidFill>
              <a:srgbClr val="DF5D44"/>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50" b="1">
                <a:solidFill>
                  <a:srgbClr val="2B2421"/>
                </a:solidFill>
                <a:latin typeface="Malgun Gothic"/>
              </a:defRPr>
            </a:pPr>
            <a:r>
              <a:t>Key Takeaway 01:  경계 설계 (Boundary Design)</a:t>
            </a:r>
          </a:p>
          <a:p>
            <a:pPr>
              <a:lnSpc>
                <a:spcPct val="115000"/>
              </a:lnSpc>
              <a:spcBef>
                <a:spcPts val="600"/>
              </a:spcBef>
              <a:defRPr sz="1050">
                <a:solidFill>
                  <a:srgbClr val="6E625D"/>
                </a:solidFill>
                <a:latin typeface="Malgun Gothic"/>
              </a:defRPr>
            </a:pPr>
            <a:r>
              <a:t>로컬 로봇 플랫폼(Nav2/자율주행/센서)과 중앙 제어 컴퓨터(YOLO/오케스트레이션)의 명확한 역할 분리가 통신 부하를 없애고 디버깅을 단순화하는 핵심임을 깨달았습니다.</a:t>
            </a:r>
          </a:p>
        </p:txBody>
      </p:sp>
      <p:sp>
        <p:nvSpPr>
          <p:cNvPr id="5" name="Rounded Rectangle 4"/>
          <p:cNvSpPr/>
          <p:nvPr/>
        </p:nvSpPr>
        <p:spPr>
          <a:xfrm>
            <a:off x="6217920" y="1645920"/>
            <a:ext cx="5120640" cy="1920240"/>
          </a:xfrm>
          <a:prstGeom prst="roundRect">
            <a:avLst/>
          </a:prstGeom>
          <a:solidFill>
            <a:srgbClr val="FFFFFF"/>
          </a:solidFill>
          <a:ln w="19050">
            <a:solidFill>
              <a:srgbClr val="2BA66E"/>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50" b="1">
                <a:solidFill>
                  <a:srgbClr val="2B2421"/>
                </a:solidFill>
                <a:latin typeface="Malgun Gothic"/>
              </a:defRPr>
            </a:pPr>
            <a:r>
              <a:t>Key Takeaway 02:  시행착오의 엔지니어링 가치</a:t>
            </a:r>
          </a:p>
          <a:p>
            <a:pPr>
              <a:lnSpc>
                <a:spcPct val="115000"/>
              </a:lnSpc>
              <a:spcBef>
                <a:spcPts val="600"/>
              </a:spcBef>
              <a:defRPr sz="1050">
                <a:solidFill>
                  <a:srgbClr val="6E625D"/>
                </a:solidFill>
                <a:latin typeface="Malgun Gothic"/>
              </a:defRPr>
            </a:pPr>
            <a:r>
              <a:t>단순히 최종 센서 융합 코드로 직진한 것이 아니라, Geometry 방식(Try 1) 및 Fake Odom 시뮬레이터 검증(Try 2) 단계를 차례로 겪었기에 시스템 동작에 대한 깊은 이해를 얻었습니다.</a:t>
            </a:r>
          </a:p>
        </p:txBody>
      </p:sp>
      <p:sp>
        <p:nvSpPr>
          <p:cNvPr id="6" name="Rounded Rectangle 5"/>
          <p:cNvSpPr/>
          <p:nvPr/>
        </p:nvSpPr>
        <p:spPr>
          <a:xfrm>
            <a:off x="731520" y="3840480"/>
            <a:ext cx="5120640" cy="1920240"/>
          </a:xfrm>
          <a:prstGeom prst="roundRect">
            <a:avLst/>
          </a:prstGeom>
          <a:solidFill>
            <a:srgbClr val="FFFFFF"/>
          </a:solidFill>
          <a:ln w="19050">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50" b="1">
                <a:solidFill>
                  <a:srgbClr val="2B2421"/>
                </a:solidFill>
                <a:latin typeface="Malgun Gothic"/>
              </a:defRPr>
            </a:pPr>
            <a:r>
              <a:t>Key Takeaway 03:  관측 가능성 (Observability)</a:t>
            </a:r>
          </a:p>
          <a:p>
            <a:pPr>
              <a:lnSpc>
                <a:spcPct val="115000"/>
              </a:lnSpc>
              <a:spcBef>
                <a:spcPts val="600"/>
              </a:spcBef>
              <a:defRPr sz="1050">
                <a:solidFill>
                  <a:srgbClr val="6E625D"/>
                </a:solidFill>
                <a:latin typeface="Malgun Gothic"/>
              </a:defRPr>
            </a:pPr>
            <a:r>
              <a:t>로봇의 내부 명령 큐 상태와 RecipeOrchestrator의 단계명을 관제 웹 UI 상에 실시간 노출시킴으로써, 무선 환경에서 일어나는 유실 및 먹통 상황을 직관적으로 진단할 수 있었습니다.</a:t>
            </a:r>
          </a:p>
        </p:txBody>
      </p:sp>
      <p:sp>
        <p:nvSpPr>
          <p:cNvPr id="7" name="Rounded Rectangle 6"/>
          <p:cNvSpPr/>
          <p:nvPr/>
        </p:nvSpPr>
        <p:spPr>
          <a:xfrm>
            <a:off x="6217920" y="3840480"/>
            <a:ext cx="5120640" cy="1920240"/>
          </a:xfrm>
          <a:prstGeom prst="roundRect">
            <a:avLst/>
          </a:prstGeom>
          <a:solidFill>
            <a:srgbClr val="FFFFFF"/>
          </a:solidFill>
          <a:ln w="19050">
            <a:solidFill>
              <a:srgbClr val="3589D6"/>
            </a:solidFill>
          </a:ln>
          <a:effectLst>
            <a:outerShdw blurRad="15000" dist="8000" dir="540000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50" b="1">
                <a:solidFill>
                  <a:srgbClr val="2B2421"/>
                </a:solidFill>
                <a:latin typeface="Malgun Gothic"/>
              </a:defRPr>
            </a:pPr>
            <a:r>
              <a:t>Key Takeaway 04:  점진적 시스템 확장 아키텍처</a:t>
            </a:r>
          </a:p>
          <a:p>
            <a:pPr>
              <a:lnSpc>
                <a:spcPct val="115000"/>
              </a:lnSpc>
              <a:spcBef>
                <a:spcPts val="600"/>
              </a:spcBef>
              <a:defRPr sz="1050">
                <a:solidFill>
                  <a:srgbClr val="6E625D"/>
                </a:solidFill>
                <a:latin typeface="Malgun Gothic"/>
              </a:defRPr>
            </a:pPr>
            <a:r>
              <a:t>처음부터 복잡한 분산 마이크로서비스로 개발하기보단, '동작하는 단일 로봇 과일 내비게이션' 위에 경량 HTTP 브리지 레이어를 얹어가며 확장한 아키텍처 패턴이 성공적인 E2E 완료의 기반이 되었습니다.</a:t>
            </a:r>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1547</ep:Words>
  <ep:PresentationFormat>On-screen Show (4:3)</ep:PresentationFormat>
  <ep:Paragraphs>179</ep:Paragraphs>
  <ep:Slides>12</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12</vt:i4>
      </vt:variant>
    </vt:vector>
  </ep:HeadingPairs>
  <ep:TitlesOfParts>
    <vt:vector size="13"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2013-01-27T09:14:16.000</dcterms:created>
  <dc:description>generated using python-pptx</dc:description>
  <cp:lastModifiedBy>user</cp:lastModifiedBy>
  <dcterms:modified xsi:type="dcterms:W3CDTF">2026-08-30T14:40:59.588</dcterms:modified>
  <cp:revision>7</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